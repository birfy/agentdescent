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AlgoTune tasks, one search configuration, run twice. Headline 2.285x and 2.254x harmonic mean. The deck argues two things: the number is reproducible, and half the published comparison is not measuring the same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thing to stress: n comes from upstream generation.json, unmodified. That is the axis the rest of the deck turns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comparability question here without answering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AlgoTune’s own scoring nobody is below 1.0 and no model needs excluding, so this replaces both the “winners only” chart and the four-task workaround.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correction out loud. The reproduction is the evidence that the metric here is the benchmark’s, not one invented for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and not on AlgoTune: CodeEvolve (AlphaEvolve suite), ThetaEvolve (circle packing), ParEVO (PBBS/ParEval), RL4RLA, ProgramBench.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amber cells are the whole argument of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comparison is now worth making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directions matter. One direction alone would be explainable as a stronger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escapes are what makes this a conclusion rather than a suspicion.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an earlier read: affine is nearly closed, lu and psd are where the room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miss. A deck that only shows wins is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limits. The credibility of slides 4-9 depends on saying this one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1874520"/>
            <a:ext cx="11055096" cy="274320"/>
          </a:xfrm>
          <a:prstGeom prst="rect">
            <a:avLst/>
          </a:prstGeom>
          <a:noFill/>
          <a:ln/>
        </p:spPr>
        <p:txBody>
          <a:bodyPr wrap="square" lIns="0" tIns="0" rIns="0" bIns="0" rtlCol="0" anchor="ctr"/>
          <a:lstStyle/>
          <a:p>
            <a:pPr indent="0" marL="0">
              <a:buNone/>
            </a:pPr>
            <a:r>
              <a:rPr lang="en-US" sz="1200" b="1" spc="240" kern="0" dirty="0">
                <a:solidFill>
                  <a:srgbClr val="0E7C66"/>
                </a:solidFill>
                <a:latin typeface="Calibri" pitchFamily="34" charset="0"/>
                <a:ea typeface="Calibri" pitchFamily="34" charset="-122"/>
                <a:cs typeface="Calibri" pitchFamily="34" charset="-120"/>
              </a:rPr>
              <a:t>AlgoTune  ·  eight tasks  ·  one configuration  ·  two seeds</a:t>
            </a:r>
            <a:endParaRPr lang="en-US" sz="1200" dirty="0"/>
          </a:p>
        </p:txBody>
      </p:sp>
      <p:sp>
        <p:nvSpPr>
          <p:cNvPr id="4" name="Text 2"/>
          <p:cNvSpPr txBox="1"/>
          <p:nvPr/>
        </p:nvSpPr>
        <p:spPr>
          <a:xfrm>
            <a:off x="566928" y="2212848"/>
            <a:ext cx="859536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Measured Twice</a:t>
            </a:r>
            <a:endParaRPr lang="en-US" sz="5400" dirty="0"/>
          </a:p>
        </p:txBody>
      </p:sp>
      <p:sp>
        <p:nvSpPr>
          <p:cNvPr id="5" name="Text 3"/>
          <p:cNvSpPr txBox="1"/>
          <p:nvPr/>
        </p:nvSpPr>
        <p:spPr>
          <a:xfrm>
            <a:off x="566928" y="3200400"/>
            <a:ext cx="7680960" cy="822960"/>
          </a:xfrm>
          <a:prstGeom prst="rect">
            <a:avLst/>
          </a:prstGeom>
          <a:noFill/>
          <a:ln/>
        </p:spPr>
        <p:txBody>
          <a:bodyPr wrap="square" lIns="0" tIns="0" rIns="0" bIns="0" rtlCol="0" anchor="ctr"/>
          <a:lstStyle/>
          <a:p>
            <a:pPr indent="0" marL="0">
              <a:lnSpc>
                <a:spcPts val="2400"/>
              </a:lnSpc>
              <a:buNone/>
            </a:pPr>
            <a:r>
              <a:rPr lang="en-US" sz="1500" dirty="0">
                <a:solidFill>
                  <a:srgbClr val="C6D0D6"/>
                </a:solidFill>
                <a:latin typeface="Calibri" pitchFamily="34" charset="0"/>
                <a:ea typeface="Calibri" pitchFamily="34" charset="-122"/>
                <a:cs typeface="Calibri" pitchFamily="34" charset="-120"/>
              </a:rPr>
              <a:t>An ERA flat-PUCT tree search on AgentDescent, put beside MetaEvolve, its untrained baseline, OpenEvolve and the AlgoTune leaderboard — and what turns out not to be the same measurement.</a:t>
            </a:r>
            <a:endParaRPr lang="en-US" sz="1500" dirty="0"/>
          </a:p>
        </p:txBody>
      </p:sp>
      <p:sp>
        <p:nvSpPr>
          <p:cNvPr id="6" name="Text 4"/>
          <p:cNvSpPr txBox="1"/>
          <p:nvPr/>
        </p:nvSpPr>
        <p:spPr>
          <a:xfrm>
            <a:off x="56692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2.285x / 2.254x</a:t>
            </a:r>
            <a:endParaRPr lang="en-US" sz="3000" dirty="0"/>
          </a:p>
        </p:txBody>
      </p:sp>
      <p:sp>
        <p:nvSpPr>
          <p:cNvPr id="7" name="Text 5"/>
          <p:cNvSpPr txBox="1"/>
          <p:nvPr/>
        </p:nvSpPr>
        <p:spPr>
          <a:xfrm>
            <a:off x="56692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8-task harmonic mean, seeds 0 and 1</a:t>
            </a:r>
            <a:endParaRPr lang="en-US" sz="1100" dirty="0"/>
          </a:p>
        </p:txBody>
      </p:sp>
      <p:sp>
        <p:nvSpPr>
          <p:cNvPr id="8" name="Text 6"/>
          <p:cNvSpPr txBox="1"/>
          <p:nvPr/>
        </p:nvSpPr>
        <p:spPr>
          <a:xfrm>
            <a:off x="427024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16</a:t>
            </a:r>
            <a:endParaRPr lang="en-US" sz="3000" dirty="0"/>
          </a:p>
        </p:txBody>
      </p:sp>
      <p:sp>
        <p:nvSpPr>
          <p:cNvPr id="9" name="Text 7"/>
          <p:cNvSpPr txBox="1"/>
          <p:nvPr/>
        </p:nvSpPr>
        <p:spPr>
          <a:xfrm>
            <a:off x="427024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complete runs, 10.7 h, 4.62 M tokens</a:t>
            </a:r>
            <a:endParaRPr lang="en-US" sz="1100" dirty="0"/>
          </a:p>
        </p:txBody>
      </p:sp>
      <p:sp>
        <p:nvSpPr>
          <p:cNvPr id="10" name="Text 8"/>
          <p:cNvSpPr txBox="1"/>
          <p:nvPr/>
        </p:nvSpPr>
        <p:spPr>
          <a:xfrm>
            <a:off x="797356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1.4%</a:t>
            </a:r>
            <a:endParaRPr lang="en-US" sz="3000" dirty="0"/>
          </a:p>
        </p:txBody>
      </p:sp>
      <p:sp>
        <p:nvSpPr>
          <p:cNvPr id="11" name="Text 9"/>
          <p:cNvSpPr txBox="1"/>
          <p:nvPr/>
        </p:nvSpPr>
        <p:spPr>
          <a:xfrm>
            <a:off x="797356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distance between the two seeds</a:t>
            </a:r>
            <a:endParaRPr lang="en-US" sz="1100" dirty="0"/>
          </a:p>
        </p:txBody>
      </p:sp>
      <p:sp>
        <p:nvSpPr>
          <p:cNvPr id="12" name="Text 10"/>
          <p:cNvSpPr txBox="1"/>
          <p:nvPr/>
        </p:nvSpPr>
        <p:spPr>
          <a:xfrm>
            <a:off x="566928" y="6309360"/>
            <a:ext cx="11055096" cy="274320"/>
          </a:xfrm>
          <a:prstGeom prst="rect">
            <a:avLst/>
          </a:prstGeom>
          <a:noFill/>
          <a:ln/>
        </p:spPr>
        <p:txBody>
          <a:bodyPr wrap="square" lIns="0" tIns="0" rIns="0" bIns="0" rtlCol="0" anchor="ctr"/>
          <a:lstStyle/>
          <a:p>
            <a:pPr indent="0" marL="0">
              <a:buNone/>
            </a:pPr>
            <a:r>
              <a:rPr lang="en-US" sz="1000" dirty="0">
                <a:solidFill>
                  <a:srgbClr val="6A7C86"/>
                </a:solidFill>
                <a:latin typeface="Calibri" pitchFamily="34" charset="0"/>
                <a:ea typeface="Calibri" pitchFamily="34" charset="-122"/>
                <a:cs typeface="Calibri" pitchFamily="34" charset="-120"/>
              </a:rPr>
              <a:t>AgentDescent · examples/era · AlgoTune upstream dff9914 · 2026-08-29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WE RAN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harness, and the model</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Everything below is this port. The next slide is everyone else.</a:t>
            </a:r>
            <a:endParaRPr lang="en-US" sz="1350" dirty="0"/>
          </a:p>
        </p:txBody>
      </p:sp>
      <p:sp>
        <p:nvSpPr>
          <p:cNvPr id="5" name="Shape 3"/>
          <p:cNvSpPr/>
          <p:nvPr/>
        </p:nvSpPr>
        <p:spPr>
          <a:xfrm>
            <a:off x="56692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Search</a:t>
            </a:r>
            <a:endParaRPr lang="en-US" sz="1050" dirty="0"/>
          </a:p>
        </p:txBody>
      </p:sp>
      <p:sp>
        <p:nvSpPr>
          <p:cNvPr id="7" name="Text 5"/>
          <p:cNvSpPr txBox="1"/>
          <p:nvPr/>
        </p:nvSpPr>
        <p:spPr>
          <a:xfrm>
            <a:off x="80467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ERA flat-PUCT tree search (FUTS) ported onto AgentDescent. One tree per task; every node is a whole program, never a patch.</a:t>
            </a:r>
            <a:endParaRPr lang="en-US" sz="1150" dirty="0"/>
          </a:p>
        </p:txBody>
      </p:sp>
      <p:sp>
        <p:nvSpPr>
          <p:cNvPr id="8" name="Shape 6"/>
          <p:cNvSpPr/>
          <p:nvPr/>
        </p:nvSpPr>
        <p:spPr>
          <a:xfrm>
            <a:off x="619048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9" name="Text 7"/>
          <p:cNvSpPr txBox="1"/>
          <p:nvPr/>
        </p:nvSpPr>
        <p:spPr>
          <a:xfrm>
            <a:off x="642823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Model</a:t>
            </a:r>
            <a:endParaRPr lang="en-US" sz="1050" dirty="0"/>
          </a:p>
        </p:txBody>
      </p:sp>
      <p:sp>
        <p:nvSpPr>
          <p:cNvPr id="10" name="Text 8"/>
          <p:cNvSpPr txBox="1"/>
          <p:nvPr/>
        </p:nvSpPr>
        <p:spPr>
          <a:xfrm>
            <a:off x="642823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deepseek-v4-flash-ga-260731, temperature 0.7, thinking disabled, 8 000 max tokens, 4 repair draws per expansion.</a:t>
            </a:r>
            <a:endParaRPr lang="en-US" sz="1150" dirty="0"/>
          </a:p>
        </p:txBody>
      </p:sp>
      <p:sp>
        <p:nvSpPr>
          <p:cNvPr id="11" name="Shape 9"/>
          <p:cNvSpPr/>
          <p:nvPr/>
        </p:nvSpPr>
        <p:spPr>
          <a:xfrm>
            <a:off x="56692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2" name="Text 10"/>
          <p:cNvSpPr txBox="1"/>
          <p:nvPr/>
        </p:nvSpPr>
        <p:spPr>
          <a:xfrm>
            <a:off x="80467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Budget</a:t>
            </a:r>
            <a:endParaRPr lang="en-US" sz="1050" dirty="0"/>
          </a:p>
        </p:txBody>
      </p:sp>
      <p:sp>
        <p:nvSpPr>
          <p:cNvPr id="13" name="Text 11"/>
          <p:cNvSpPr txBox="1"/>
          <p:nvPr/>
        </p:nvSpPr>
        <p:spPr>
          <a:xfrm>
            <a:off x="80467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99 rollouts per task, 3 workers, asynchronous, c_puct 2.5, model-prior exponent 2.0, staleness policy full.</a:t>
            </a:r>
            <a:endParaRPr lang="en-US" sz="1150" dirty="0"/>
          </a:p>
        </p:txBody>
      </p:sp>
      <p:sp>
        <p:nvSpPr>
          <p:cNvPr id="14" name="Shape 12"/>
          <p:cNvSpPr/>
          <p:nvPr/>
        </p:nvSpPr>
        <p:spPr>
          <a:xfrm>
            <a:off x="619048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42823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Tasks</a:t>
            </a:r>
            <a:endParaRPr lang="en-US" sz="1050" dirty="0"/>
          </a:p>
        </p:txBody>
      </p:sp>
      <p:sp>
        <p:nvSpPr>
          <p:cNvPr id="16" name="Text 14"/>
          <p:cNvSpPr txBox="1"/>
          <p:nvPr/>
        </p:nvSpPr>
        <p:spPr>
          <a:xfrm>
            <a:off x="642823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Upstream AlgoTune task files at commit dff9914, at upstream’s own calibrated n from reports/generation.json. Nothing rescaled.</a:t>
            </a:r>
            <a:endParaRPr lang="en-US" sz="1150" dirty="0"/>
          </a:p>
        </p:txBody>
      </p:sp>
      <p:sp>
        <p:nvSpPr>
          <p:cNvPr id="17" name="Shape 15"/>
          <p:cNvSpPr/>
          <p:nvPr/>
        </p:nvSpPr>
        <p:spPr>
          <a:xfrm>
            <a:off x="56692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8" name="Text 16"/>
          <p:cNvSpPr txBox="1"/>
          <p:nvPr/>
        </p:nvSpPr>
        <p:spPr>
          <a:xfrm>
            <a:off x="80467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Timing</a:t>
            </a:r>
            <a:endParaRPr lang="en-US" sz="1050" dirty="0"/>
          </a:p>
        </p:txBody>
      </p:sp>
      <p:sp>
        <p:nvSpPr>
          <p:cNvPr id="19" name="Text 17"/>
          <p:cNvSpPr txBox="1"/>
          <p:nvPr/>
        </p:nvSpPr>
        <p:spPr>
          <a:xfrm>
            <a:off x="80467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Bubblewrap sandbox, network off. Reference and candidate timed in the same process, min of 3 runs. Evaluations hold a mutex so no two are timed at once.</a:t>
            </a:r>
            <a:endParaRPr lang="en-US" sz="1150" dirty="0"/>
          </a:p>
        </p:txBody>
      </p:sp>
      <p:sp>
        <p:nvSpPr>
          <p:cNvPr id="20" name="Shape 18"/>
          <p:cNvSpPr/>
          <p:nvPr/>
        </p:nvSpPr>
        <p:spPr>
          <a:xfrm>
            <a:off x="619048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21" name="Text 19"/>
          <p:cNvSpPr txBox="1"/>
          <p:nvPr/>
        </p:nvSpPr>
        <p:spPr>
          <a:xfrm>
            <a:off x="642823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Scoring</a:t>
            </a:r>
            <a:endParaRPr lang="en-US" sz="1050" dirty="0"/>
          </a:p>
        </p:txBody>
      </p:sp>
      <p:sp>
        <p:nvSpPr>
          <p:cNvPr id="22" name="Text 20"/>
          <p:cNvSpPr txBox="1"/>
          <p:nvPr/>
        </p:nvSpPr>
        <p:spPr>
          <a:xfrm>
            <a:off x="642823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6 scoring shards of 2 problems; 3 shards of 2 held back and never seen by the search. Any invalid answer voids the task.</a:t>
            </a:r>
            <a:endParaRPr lang="en-US" sz="1150" dirty="0"/>
          </a:p>
        </p:txBody>
      </p:sp>
      <p:sp>
        <p:nvSpPr>
          <p:cNvPr id="23" name="Text 21"/>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16 runs · 2 498 model calls · 0 API failures · 4 618 649 tokens · 10.7 h wall</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WHO ELSE IS IN THE TABLE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Four other systems, four different setups</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Harness and model differ everywhere. So, it turns out, does the problem size.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1874520"/>
                <a:gridCol w="2148840"/>
                <a:gridCol w="2194560"/>
                <a:gridCol w="1965960"/>
                <a:gridCol w="2871216"/>
              </a:tblGrid>
              <a:tr h="31089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System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Search budget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Problem size 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658368">
                <a:tc>
                  <a:txBody>
                    <a:bodyPr/>
                    <a:lstStyle/>
                    <a:p>
                      <a:pPr algn="l" indent="0" marL="0">
                        <a:buNone/>
                      </a:pPr>
                      <a:r>
                        <a:rPr lang="en-US" sz="1050" b="1" dirty="0">
                          <a:solidFill>
                            <a:srgbClr val="0E7C66"/>
                          </a:solidFill>
                          <a:latin typeface="Calibri" pitchFamily="34" charset="0"/>
                          <a:ea typeface="Calibri" pitchFamily="34" charset="-122"/>
                          <a:cs typeface="Calibri" pitchFamily="34" charset="-120"/>
                        </a:rPr>
                        <a:t>This port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own AlgoTune domain</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on AgentDescent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deepseek-v4-flash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99 rollouts/task</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 2 seeds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(verified)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Qwen3-14B, no RL</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MetaEvolve’s baseline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OpenEvolve’s search</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no training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MetaEvolve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OpenEvolve’s search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RL on synthesised</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evolution trajectories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OpenEvolve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gemini-2.5-flash 0.8</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gemini-2.5-pro 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100 iterations,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population 1000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10x–4337x below</a:t>
                      </a:r>
                      <a:endParaRPr lang="en-US" sz="1050" dirty="0">
                        <a:latin typeface="Calibri" charset="0"/>
                        <a:ea typeface="Calibri" charset="0"/>
                        <a:cs typeface="Calibri" charset="0"/>
                      </a:endParaRPr>
                    </a:p>
                    <a:p>
                      <a:pPr algn="ctr" indent="0" marL="0">
                        <a:buNone/>
                      </a:pPr>
                      <a:r>
                        <a:rPr lang="en-US" sz="1050" dirty="0">
                          <a:solidFill>
                            <a:srgbClr val="C2872B"/>
                          </a:solidFill>
                          <a:latin typeface="Calibri" pitchFamily="34" charset="0"/>
                          <a:ea typeface="Calibri" pitchFamily="34" charset="-122"/>
                          <a:cs typeface="Calibri" pitchFamily="34" charset="-120"/>
                        </a:rPr>
                        <a:t>calibrated, on 6 of 8</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AlgoTune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leaderboard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AlgoTuner</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(the benchmark’s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18 models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(9 complete 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the harness’s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Text 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The first two rows are one paper’s ablation of a single variable: same search, same model, RL or not. Neither states its problem sizes, and all three run OpenEvolve’s search — whose AlgoTune harness takes n from a config field rather than from AlgoTune’s calibration. DeepMind’s AlphaEvolve is absent because it has never been run on AlgoTune and is not publicly available; the row often labelled with its name is this paper’s untrained baseline.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HEADLINE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Everything published on these eight tasks</a:t>
            </a:r>
            <a:endParaRPr lang="en-US" sz="3300" dirty="0"/>
          </a:p>
        </p:txBody>
      </p:sp>
      <p:sp>
        <p:nvSpPr>
          <p:cNvPr id="4" name="Text 2"/>
          <p:cNvSpPr txBox="1"/>
          <p:nvPr/>
        </p:nvSpPr>
        <p:spPr>
          <a:xfrm>
            <a:off x="566928" y="1243584"/>
            <a:ext cx="11055096" cy="274320"/>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metric — AlgoTune’s own — over the same eight tasks. Nobody excluded, nothing selected.</a:t>
            </a:r>
            <a:endParaRPr lang="en-US" sz="1350" dirty="0"/>
          </a:p>
        </p:txBody>
      </p:sp>
      <p:sp>
        <p:nvSpPr>
          <p:cNvPr id="5" name="Shape 3"/>
          <p:cNvSpPr/>
          <p:nvPr/>
        </p:nvSpPr>
        <p:spPr>
          <a:xfrm>
            <a:off x="566928" y="1810512"/>
            <a:ext cx="5221224" cy="301752"/>
          </a:xfrm>
          <a:prstGeom prst="roundRect">
            <a:avLst>
              <a:gd name="adj" fmla="val 15152"/>
            </a:avLst>
          </a:prstGeom>
          <a:solidFill>
            <a:srgbClr val="E6F2EF"/>
          </a:solidFill>
          <a:ln w="7620">
            <a:solidFill>
              <a:srgbClr val="D7DDE2"/>
            </a:solidFill>
            <a:prstDash val="solid"/>
          </a:ln>
        </p:spPr>
      </p:sp>
      <p:sp>
        <p:nvSpPr>
          <p:cNvPr id="6" name="Text 4"/>
          <p:cNvSpPr txBox="1"/>
          <p:nvPr/>
        </p:nvSpPr>
        <p:spPr>
          <a:xfrm>
            <a:off x="658368" y="1810512"/>
            <a:ext cx="329184" cy="301752"/>
          </a:xfrm>
          <a:prstGeom prst="rect">
            <a:avLst/>
          </a:prstGeom>
          <a:noFill/>
          <a:ln/>
        </p:spPr>
        <p:txBody>
          <a:bodyPr wrap="square" lIns="0" tIns="0" rIns="0" bIns="0" rtlCol="0" anchor="ctr"/>
          <a:lstStyle/>
          <a:p>
            <a:pPr algn="r" indent="0" marL="0">
              <a:buNone/>
            </a:pPr>
            <a:r>
              <a:rPr lang="en-US" sz="950" b="1" dirty="0">
                <a:solidFill>
                  <a:srgbClr val="0E7C66"/>
                </a:solidFill>
                <a:latin typeface="Calibri" pitchFamily="34" charset="0"/>
                <a:ea typeface="Calibri" pitchFamily="34" charset="-122"/>
                <a:cs typeface="Calibri" pitchFamily="34" charset="-120"/>
              </a:rPr>
              <a:t>1</a:t>
            </a:r>
            <a:endParaRPr lang="en-US" sz="950" dirty="0"/>
          </a:p>
        </p:txBody>
      </p:sp>
      <p:sp>
        <p:nvSpPr>
          <p:cNvPr id="7" name="Text 5"/>
          <p:cNvSpPr txBox="1"/>
          <p:nvPr/>
        </p:nvSpPr>
        <p:spPr>
          <a:xfrm>
            <a:off x="1078992" y="1810512"/>
            <a:ext cx="2395728" cy="301752"/>
          </a:xfrm>
          <a:prstGeom prst="rect">
            <a:avLst/>
          </a:prstGeom>
          <a:noFill/>
          <a:ln/>
        </p:spPr>
        <p:txBody>
          <a:bodyPr wrap="square" lIns="0" tIns="0" rIns="0" bIns="0" rtlCol="0" anchor="ctr"/>
          <a:lstStyle/>
          <a:p>
            <a:pPr indent="0" marL="0">
              <a:buNone/>
            </a:pPr>
            <a:r>
              <a:rPr lang="en-US" sz="1000" b="1" dirty="0">
                <a:solidFill>
                  <a:srgbClr val="0E7C66"/>
                </a:solidFill>
                <a:latin typeface="Calibri" pitchFamily="34" charset="0"/>
                <a:ea typeface="Calibri" pitchFamily="34" charset="-122"/>
                <a:cs typeface="Calibri" pitchFamily="34" charset="-120"/>
              </a:rPr>
              <a:t>This port — seed 0</a:t>
            </a:r>
            <a:endParaRPr lang="en-US" sz="1000" dirty="0"/>
          </a:p>
        </p:txBody>
      </p:sp>
      <p:sp>
        <p:nvSpPr>
          <p:cNvPr id="8" name="Text 6"/>
          <p:cNvSpPr txBox="1"/>
          <p:nvPr/>
        </p:nvSpPr>
        <p:spPr>
          <a:xfrm>
            <a:off x="3493008" y="18105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ERA</a:t>
            </a:r>
            <a:endParaRPr lang="en-US" sz="750" dirty="0"/>
          </a:p>
        </p:txBody>
      </p:sp>
      <p:sp>
        <p:nvSpPr>
          <p:cNvPr id="9" name="Shape 7"/>
          <p:cNvSpPr/>
          <p:nvPr/>
        </p:nvSpPr>
        <p:spPr>
          <a:xfrm>
            <a:off x="4389120" y="1915668"/>
            <a:ext cx="786309" cy="91440"/>
          </a:xfrm>
          <a:prstGeom prst="rect">
            <a:avLst/>
          </a:prstGeom>
          <a:solidFill>
            <a:srgbClr val="0E7C66"/>
          </a:solidFill>
          <a:ln w="12700">
            <a:solidFill>
              <a:srgbClr val="333333"/>
            </a:solidFill>
            <a:prstDash val="solid"/>
          </a:ln>
        </p:spPr>
      </p:sp>
      <p:sp>
        <p:nvSpPr>
          <p:cNvPr id="10" name="Text 8"/>
          <p:cNvSpPr txBox="1"/>
          <p:nvPr/>
        </p:nvSpPr>
        <p:spPr>
          <a:xfrm>
            <a:off x="5248656" y="1810512"/>
            <a:ext cx="457200" cy="301752"/>
          </a:xfrm>
          <a:prstGeom prst="rect">
            <a:avLst/>
          </a:prstGeom>
          <a:noFill/>
          <a:ln/>
        </p:spPr>
        <p:txBody>
          <a:bodyPr wrap="square" lIns="0" tIns="0" rIns="0" bIns="0" rtlCol="0" anchor="ctr"/>
          <a:lstStyle/>
          <a:p>
            <a:pPr algn="r" indent="0" marL="0">
              <a:buNone/>
            </a:pPr>
            <a:r>
              <a:rPr lang="en-US" sz="950" b="1" dirty="0">
                <a:solidFill>
                  <a:srgbClr val="0E7C66"/>
                </a:solidFill>
                <a:latin typeface="Calibri" pitchFamily="34" charset="0"/>
                <a:ea typeface="Calibri" pitchFamily="34" charset="-122"/>
                <a:cs typeface="Calibri" pitchFamily="34" charset="-120"/>
              </a:rPr>
              <a:t>2.290</a:t>
            </a:r>
            <a:endParaRPr lang="en-US" sz="950" dirty="0"/>
          </a:p>
        </p:txBody>
      </p:sp>
      <p:sp>
        <p:nvSpPr>
          <p:cNvPr id="11" name="Shape 9"/>
          <p:cNvSpPr/>
          <p:nvPr/>
        </p:nvSpPr>
        <p:spPr>
          <a:xfrm>
            <a:off x="566928" y="2153412"/>
            <a:ext cx="5221224" cy="301752"/>
          </a:xfrm>
          <a:prstGeom prst="roundRect">
            <a:avLst>
              <a:gd name="adj" fmla="val 15152"/>
            </a:avLst>
          </a:prstGeom>
          <a:solidFill>
            <a:srgbClr val="E6F2EF"/>
          </a:solidFill>
          <a:ln w="7620">
            <a:solidFill>
              <a:srgbClr val="D7DDE2"/>
            </a:solidFill>
            <a:prstDash val="solid"/>
          </a:ln>
        </p:spPr>
      </p:sp>
      <p:sp>
        <p:nvSpPr>
          <p:cNvPr id="12" name="Text 10"/>
          <p:cNvSpPr txBox="1"/>
          <p:nvPr/>
        </p:nvSpPr>
        <p:spPr>
          <a:xfrm>
            <a:off x="658368" y="2153412"/>
            <a:ext cx="329184" cy="301752"/>
          </a:xfrm>
          <a:prstGeom prst="rect">
            <a:avLst/>
          </a:prstGeom>
          <a:noFill/>
          <a:ln/>
        </p:spPr>
        <p:txBody>
          <a:bodyPr wrap="square" lIns="0" tIns="0" rIns="0" bIns="0" rtlCol="0" anchor="ctr"/>
          <a:lstStyle/>
          <a:p>
            <a:pPr algn="r" indent="0" marL="0">
              <a:buNone/>
            </a:pPr>
            <a:r>
              <a:rPr lang="en-US" sz="950" b="1" dirty="0">
                <a:solidFill>
                  <a:srgbClr val="0E7C66"/>
                </a:solidFill>
                <a:latin typeface="Calibri" pitchFamily="34" charset="0"/>
                <a:ea typeface="Calibri" pitchFamily="34" charset="-122"/>
                <a:cs typeface="Calibri" pitchFamily="34" charset="-120"/>
              </a:rPr>
              <a:t>2</a:t>
            </a:r>
            <a:endParaRPr lang="en-US" sz="950" dirty="0"/>
          </a:p>
        </p:txBody>
      </p:sp>
      <p:sp>
        <p:nvSpPr>
          <p:cNvPr id="13" name="Text 11"/>
          <p:cNvSpPr txBox="1"/>
          <p:nvPr/>
        </p:nvSpPr>
        <p:spPr>
          <a:xfrm>
            <a:off x="1078992" y="2153412"/>
            <a:ext cx="2395728" cy="301752"/>
          </a:xfrm>
          <a:prstGeom prst="rect">
            <a:avLst/>
          </a:prstGeom>
          <a:noFill/>
          <a:ln/>
        </p:spPr>
        <p:txBody>
          <a:bodyPr wrap="square" lIns="0" tIns="0" rIns="0" bIns="0" rtlCol="0" anchor="ctr"/>
          <a:lstStyle/>
          <a:p>
            <a:pPr indent="0" marL="0">
              <a:buNone/>
            </a:pPr>
            <a:r>
              <a:rPr lang="en-US" sz="1000" b="1" dirty="0">
                <a:solidFill>
                  <a:srgbClr val="0E7C66"/>
                </a:solidFill>
                <a:latin typeface="Calibri" pitchFamily="34" charset="0"/>
                <a:ea typeface="Calibri" pitchFamily="34" charset="-122"/>
                <a:cs typeface="Calibri" pitchFamily="34" charset="-120"/>
              </a:rPr>
              <a:t>This port — seed 1</a:t>
            </a:r>
            <a:endParaRPr lang="en-US" sz="1000" dirty="0"/>
          </a:p>
        </p:txBody>
      </p:sp>
      <p:sp>
        <p:nvSpPr>
          <p:cNvPr id="14" name="Text 12"/>
          <p:cNvSpPr txBox="1"/>
          <p:nvPr/>
        </p:nvSpPr>
        <p:spPr>
          <a:xfrm>
            <a:off x="3493008" y="21534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ERA</a:t>
            </a:r>
            <a:endParaRPr lang="en-US" sz="750" dirty="0"/>
          </a:p>
        </p:txBody>
      </p:sp>
      <p:sp>
        <p:nvSpPr>
          <p:cNvPr id="15" name="Shape 13"/>
          <p:cNvSpPr/>
          <p:nvPr/>
        </p:nvSpPr>
        <p:spPr>
          <a:xfrm>
            <a:off x="4389120" y="2258568"/>
            <a:ext cx="778755" cy="91440"/>
          </a:xfrm>
          <a:prstGeom prst="rect">
            <a:avLst/>
          </a:prstGeom>
          <a:solidFill>
            <a:srgbClr val="0E7C66"/>
          </a:solidFill>
          <a:ln w="12700">
            <a:solidFill>
              <a:srgbClr val="333333"/>
            </a:solidFill>
            <a:prstDash val="solid"/>
          </a:ln>
        </p:spPr>
      </p:sp>
      <p:sp>
        <p:nvSpPr>
          <p:cNvPr id="16" name="Text 14"/>
          <p:cNvSpPr txBox="1"/>
          <p:nvPr/>
        </p:nvSpPr>
        <p:spPr>
          <a:xfrm>
            <a:off x="5248656" y="2153412"/>
            <a:ext cx="457200" cy="301752"/>
          </a:xfrm>
          <a:prstGeom prst="rect">
            <a:avLst/>
          </a:prstGeom>
          <a:noFill/>
          <a:ln/>
        </p:spPr>
        <p:txBody>
          <a:bodyPr wrap="square" lIns="0" tIns="0" rIns="0" bIns="0" rtlCol="0" anchor="ctr"/>
          <a:lstStyle/>
          <a:p>
            <a:pPr algn="r" indent="0" marL="0">
              <a:buNone/>
            </a:pPr>
            <a:r>
              <a:rPr lang="en-US" sz="950" b="1" dirty="0">
                <a:solidFill>
                  <a:srgbClr val="0E7C66"/>
                </a:solidFill>
                <a:latin typeface="Calibri" pitchFamily="34" charset="0"/>
                <a:ea typeface="Calibri" pitchFamily="34" charset="-122"/>
                <a:cs typeface="Calibri" pitchFamily="34" charset="-120"/>
              </a:rPr>
              <a:t>2.268</a:t>
            </a:r>
            <a:endParaRPr lang="en-US" sz="950" dirty="0"/>
          </a:p>
        </p:txBody>
      </p:sp>
      <p:sp>
        <p:nvSpPr>
          <p:cNvPr id="17" name="Shape 15"/>
          <p:cNvSpPr/>
          <p:nvPr/>
        </p:nvSpPr>
        <p:spPr>
          <a:xfrm>
            <a:off x="566928" y="2496312"/>
            <a:ext cx="5221224" cy="301752"/>
          </a:xfrm>
          <a:prstGeom prst="roundRect">
            <a:avLst>
              <a:gd name="adj" fmla="val 15152"/>
            </a:avLst>
          </a:prstGeom>
          <a:solidFill>
            <a:srgbClr val="EEF1F3"/>
          </a:solidFill>
          <a:ln w="7620">
            <a:solidFill>
              <a:srgbClr val="D7DDE2"/>
            </a:solidFill>
            <a:prstDash val="solid"/>
          </a:ln>
        </p:spPr>
      </p:sp>
      <p:sp>
        <p:nvSpPr>
          <p:cNvPr id="18" name="Text 16"/>
          <p:cNvSpPr txBox="1"/>
          <p:nvPr/>
        </p:nvSpPr>
        <p:spPr>
          <a:xfrm>
            <a:off x="658368" y="24963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3</a:t>
            </a:r>
            <a:endParaRPr lang="en-US" sz="950" dirty="0"/>
          </a:p>
        </p:txBody>
      </p:sp>
      <p:sp>
        <p:nvSpPr>
          <p:cNvPr id="19" name="Text 17"/>
          <p:cNvSpPr txBox="1"/>
          <p:nvPr/>
        </p:nvSpPr>
        <p:spPr>
          <a:xfrm>
            <a:off x="1078992" y="2496312"/>
            <a:ext cx="2395728" cy="301752"/>
          </a:xfrm>
          <a:prstGeom prst="rect">
            <a:avLst/>
          </a:prstGeom>
          <a:noFill/>
          <a:ln/>
        </p:spPr>
        <p:txBody>
          <a:bodyPr wrap="square" lIns="0" tIns="0" rIns="0" bIns="0" rtlCol="0" anchor="ctr"/>
          <a:lstStyle/>
          <a:p>
            <a:pPr indent="0" marL="0">
              <a:buNone/>
            </a:pPr>
            <a:r>
              <a:rPr lang="en-US" sz="1000" dirty="0">
                <a:solidFill>
                  <a:srgbClr val="C2872B"/>
                </a:solidFill>
                <a:latin typeface="Calibri" pitchFamily="34" charset="0"/>
                <a:ea typeface="Calibri" pitchFamily="34" charset="-122"/>
                <a:cs typeface="Calibri" pitchFamily="34" charset="-120"/>
              </a:rPr>
              <a:t>MetaEvolve (RL)</a:t>
            </a:r>
            <a:endParaRPr lang="en-US" sz="1000" dirty="0"/>
          </a:p>
        </p:txBody>
      </p:sp>
      <p:sp>
        <p:nvSpPr>
          <p:cNvPr id="20" name="Text 18"/>
          <p:cNvSpPr txBox="1"/>
          <p:nvPr/>
        </p:nvSpPr>
        <p:spPr>
          <a:xfrm>
            <a:off x="3493008" y="24963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OpenEvolve</a:t>
            </a:r>
            <a:endParaRPr lang="en-US" sz="750" dirty="0"/>
          </a:p>
        </p:txBody>
      </p:sp>
      <p:sp>
        <p:nvSpPr>
          <p:cNvPr id="21" name="Shape 19"/>
          <p:cNvSpPr/>
          <p:nvPr/>
        </p:nvSpPr>
        <p:spPr>
          <a:xfrm>
            <a:off x="4389120" y="2601468"/>
            <a:ext cx="702185" cy="91440"/>
          </a:xfrm>
          <a:prstGeom prst="rect">
            <a:avLst/>
          </a:prstGeom>
          <a:solidFill>
            <a:srgbClr val="C2872B"/>
          </a:solidFill>
          <a:ln w="12700">
            <a:solidFill>
              <a:srgbClr val="333333"/>
            </a:solidFill>
            <a:prstDash val="solid"/>
          </a:ln>
        </p:spPr>
      </p:sp>
      <p:sp>
        <p:nvSpPr>
          <p:cNvPr id="22" name="Text 20"/>
          <p:cNvSpPr txBox="1"/>
          <p:nvPr/>
        </p:nvSpPr>
        <p:spPr>
          <a:xfrm>
            <a:off x="5248656" y="24963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2.045</a:t>
            </a:r>
            <a:endParaRPr lang="en-US" sz="950" dirty="0"/>
          </a:p>
        </p:txBody>
      </p:sp>
      <p:sp>
        <p:nvSpPr>
          <p:cNvPr id="23" name="Shape 21"/>
          <p:cNvSpPr/>
          <p:nvPr/>
        </p:nvSpPr>
        <p:spPr>
          <a:xfrm>
            <a:off x="566928" y="2839212"/>
            <a:ext cx="5221224" cy="301752"/>
          </a:xfrm>
          <a:prstGeom prst="roundRect">
            <a:avLst>
              <a:gd name="adj" fmla="val 15152"/>
            </a:avLst>
          </a:prstGeom>
          <a:solidFill>
            <a:srgbClr val="FFFFFF"/>
          </a:solidFill>
          <a:ln w="7620">
            <a:solidFill>
              <a:srgbClr val="D7DDE2"/>
            </a:solidFill>
            <a:prstDash val="solid"/>
          </a:ln>
        </p:spPr>
      </p:sp>
      <p:sp>
        <p:nvSpPr>
          <p:cNvPr id="24" name="Text 22"/>
          <p:cNvSpPr txBox="1"/>
          <p:nvPr/>
        </p:nvSpPr>
        <p:spPr>
          <a:xfrm>
            <a:off x="658368" y="28392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4</a:t>
            </a:r>
            <a:endParaRPr lang="en-US" sz="950" dirty="0"/>
          </a:p>
        </p:txBody>
      </p:sp>
      <p:sp>
        <p:nvSpPr>
          <p:cNvPr id="25" name="Text 23"/>
          <p:cNvSpPr txBox="1"/>
          <p:nvPr/>
        </p:nvSpPr>
        <p:spPr>
          <a:xfrm>
            <a:off x="1078992" y="28392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OpenEvolve</a:t>
            </a:r>
            <a:endParaRPr lang="en-US" sz="1000" dirty="0"/>
          </a:p>
        </p:txBody>
      </p:sp>
      <p:sp>
        <p:nvSpPr>
          <p:cNvPr id="26" name="Text 24"/>
          <p:cNvSpPr txBox="1"/>
          <p:nvPr/>
        </p:nvSpPr>
        <p:spPr>
          <a:xfrm>
            <a:off x="3493008" y="28392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OpenEvolve*</a:t>
            </a:r>
            <a:endParaRPr lang="en-US" sz="750" dirty="0"/>
          </a:p>
        </p:txBody>
      </p:sp>
      <p:sp>
        <p:nvSpPr>
          <p:cNvPr id="27" name="Shape 25"/>
          <p:cNvSpPr/>
          <p:nvPr/>
        </p:nvSpPr>
        <p:spPr>
          <a:xfrm>
            <a:off x="4389120" y="2944368"/>
            <a:ext cx="681239" cy="91440"/>
          </a:xfrm>
          <a:prstGeom prst="rect">
            <a:avLst/>
          </a:prstGeom>
          <a:solidFill>
            <a:srgbClr val="93A1AA"/>
          </a:solidFill>
          <a:ln w="12700">
            <a:solidFill>
              <a:srgbClr val="333333"/>
            </a:solidFill>
            <a:prstDash val="solid"/>
          </a:ln>
        </p:spPr>
      </p:sp>
      <p:sp>
        <p:nvSpPr>
          <p:cNvPr id="28" name="Text 26"/>
          <p:cNvSpPr txBox="1"/>
          <p:nvPr/>
        </p:nvSpPr>
        <p:spPr>
          <a:xfrm>
            <a:off x="5248656" y="28392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1.984</a:t>
            </a:r>
            <a:endParaRPr lang="en-US" sz="950" dirty="0"/>
          </a:p>
        </p:txBody>
      </p:sp>
      <p:sp>
        <p:nvSpPr>
          <p:cNvPr id="29" name="Shape 27"/>
          <p:cNvSpPr/>
          <p:nvPr/>
        </p:nvSpPr>
        <p:spPr>
          <a:xfrm>
            <a:off x="566928" y="3182112"/>
            <a:ext cx="5221224" cy="301752"/>
          </a:xfrm>
          <a:prstGeom prst="roundRect">
            <a:avLst>
              <a:gd name="adj" fmla="val 15152"/>
            </a:avLst>
          </a:prstGeom>
          <a:solidFill>
            <a:srgbClr val="EEF1F3"/>
          </a:solidFill>
          <a:ln w="7620">
            <a:solidFill>
              <a:srgbClr val="D7DDE2"/>
            </a:solidFill>
            <a:prstDash val="solid"/>
          </a:ln>
        </p:spPr>
      </p:sp>
      <p:sp>
        <p:nvSpPr>
          <p:cNvPr id="30" name="Text 28"/>
          <p:cNvSpPr txBox="1"/>
          <p:nvPr/>
        </p:nvSpPr>
        <p:spPr>
          <a:xfrm>
            <a:off x="658368" y="31821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5</a:t>
            </a:r>
            <a:endParaRPr lang="en-US" sz="950" dirty="0"/>
          </a:p>
        </p:txBody>
      </p:sp>
      <p:sp>
        <p:nvSpPr>
          <p:cNvPr id="31" name="Text 29"/>
          <p:cNvSpPr txBox="1"/>
          <p:nvPr/>
        </p:nvSpPr>
        <p:spPr>
          <a:xfrm>
            <a:off x="1078992" y="31821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claude-opus-4.6</a:t>
            </a:r>
            <a:endParaRPr lang="en-US" sz="1000" dirty="0"/>
          </a:p>
        </p:txBody>
      </p:sp>
      <p:sp>
        <p:nvSpPr>
          <p:cNvPr id="32" name="Text 30"/>
          <p:cNvSpPr txBox="1"/>
          <p:nvPr/>
        </p:nvSpPr>
        <p:spPr>
          <a:xfrm>
            <a:off x="3493008" y="31821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33" name="Shape 31"/>
          <p:cNvSpPr/>
          <p:nvPr/>
        </p:nvSpPr>
        <p:spPr>
          <a:xfrm>
            <a:off x="4389120" y="3287268"/>
            <a:ext cx="630764" cy="91440"/>
          </a:xfrm>
          <a:prstGeom prst="rect">
            <a:avLst/>
          </a:prstGeom>
          <a:solidFill>
            <a:srgbClr val="93A1AA"/>
          </a:solidFill>
          <a:ln w="12700">
            <a:solidFill>
              <a:srgbClr val="333333"/>
            </a:solidFill>
            <a:prstDash val="solid"/>
          </a:ln>
        </p:spPr>
      </p:sp>
      <p:sp>
        <p:nvSpPr>
          <p:cNvPr id="34" name="Text 32"/>
          <p:cNvSpPr txBox="1"/>
          <p:nvPr/>
        </p:nvSpPr>
        <p:spPr>
          <a:xfrm>
            <a:off x="5248656" y="31821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1.837</a:t>
            </a:r>
            <a:endParaRPr lang="en-US" sz="950" dirty="0"/>
          </a:p>
        </p:txBody>
      </p:sp>
      <p:sp>
        <p:nvSpPr>
          <p:cNvPr id="35" name="Shape 33"/>
          <p:cNvSpPr/>
          <p:nvPr/>
        </p:nvSpPr>
        <p:spPr>
          <a:xfrm>
            <a:off x="566928" y="3525012"/>
            <a:ext cx="5221224" cy="301752"/>
          </a:xfrm>
          <a:prstGeom prst="roundRect">
            <a:avLst>
              <a:gd name="adj" fmla="val 15152"/>
            </a:avLst>
          </a:prstGeom>
          <a:solidFill>
            <a:srgbClr val="FFFFFF"/>
          </a:solidFill>
          <a:ln w="7620">
            <a:solidFill>
              <a:srgbClr val="D7DDE2"/>
            </a:solidFill>
            <a:prstDash val="solid"/>
          </a:ln>
        </p:spPr>
      </p:sp>
      <p:sp>
        <p:nvSpPr>
          <p:cNvPr id="36" name="Text 34"/>
          <p:cNvSpPr txBox="1"/>
          <p:nvPr/>
        </p:nvSpPr>
        <p:spPr>
          <a:xfrm>
            <a:off x="658368" y="35250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6</a:t>
            </a:r>
            <a:endParaRPr lang="en-US" sz="950" dirty="0"/>
          </a:p>
        </p:txBody>
      </p:sp>
      <p:sp>
        <p:nvSpPr>
          <p:cNvPr id="37" name="Text 35"/>
          <p:cNvSpPr txBox="1"/>
          <p:nvPr/>
        </p:nvSpPr>
        <p:spPr>
          <a:xfrm>
            <a:off x="1078992" y="35250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gemini-3.1-pro-preview</a:t>
            </a:r>
            <a:endParaRPr lang="en-US" sz="1000" dirty="0"/>
          </a:p>
        </p:txBody>
      </p:sp>
      <p:sp>
        <p:nvSpPr>
          <p:cNvPr id="38" name="Text 36"/>
          <p:cNvSpPr txBox="1"/>
          <p:nvPr/>
        </p:nvSpPr>
        <p:spPr>
          <a:xfrm>
            <a:off x="3493008" y="35250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39" name="Shape 37"/>
          <p:cNvSpPr/>
          <p:nvPr/>
        </p:nvSpPr>
        <p:spPr>
          <a:xfrm>
            <a:off x="4389120" y="3630168"/>
            <a:ext cx="629391" cy="91440"/>
          </a:xfrm>
          <a:prstGeom prst="rect">
            <a:avLst/>
          </a:prstGeom>
          <a:solidFill>
            <a:srgbClr val="93A1AA"/>
          </a:solidFill>
          <a:ln w="12700">
            <a:solidFill>
              <a:srgbClr val="333333"/>
            </a:solidFill>
            <a:prstDash val="solid"/>
          </a:ln>
        </p:spPr>
      </p:sp>
      <p:sp>
        <p:nvSpPr>
          <p:cNvPr id="40" name="Text 38"/>
          <p:cNvSpPr txBox="1"/>
          <p:nvPr/>
        </p:nvSpPr>
        <p:spPr>
          <a:xfrm>
            <a:off x="5248656" y="35250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1.833</a:t>
            </a:r>
            <a:endParaRPr lang="en-US" sz="950" dirty="0"/>
          </a:p>
        </p:txBody>
      </p:sp>
      <p:sp>
        <p:nvSpPr>
          <p:cNvPr id="41" name="Shape 39"/>
          <p:cNvSpPr/>
          <p:nvPr/>
        </p:nvSpPr>
        <p:spPr>
          <a:xfrm>
            <a:off x="566928" y="3867912"/>
            <a:ext cx="5221224" cy="301752"/>
          </a:xfrm>
          <a:prstGeom prst="roundRect">
            <a:avLst>
              <a:gd name="adj" fmla="val 15152"/>
            </a:avLst>
          </a:prstGeom>
          <a:solidFill>
            <a:srgbClr val="EEF1F3"/>
          </a:solidFill>
          <a:ln w="7620">
            <a:solidFill>
              <a:srgbClr val="D7DDE2"/>
            </a:solidFill>
            <a:prstDash val="solid"/>
          </a:ln>
        </p:spPr>
      </p:sp>
      <p:sp>
        <p:nvSpPr>
          <p:cNvPr id="42" name="Text 40"/>
          <p:cNvSpPr txBox="1"/>
          <p:nvPr/>
        </p:nvSpPr>
        <p:spPr>
          <a:xfrm>
            <a:off x="658368" y="38679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7</a:t>
            </a:r>
            <a:endParaRPr lang="en-US" sz="950" dirty="0"/>
          </a:p>
        </p:txBody>
      </p:sp>
      <p:sp>
        <p:nvSpPr>
          <p:cNvPr id="43" name="Text 41"/>
          <p:cNvSpPr txBox="1"/>
          <p:nvPr/>
        </p:nvSpPr>
        <p:spPr>
          <a:xfrm>
            <a:off x="1078992" y="38679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claude-opus-4.5</a:t>
            </a:r>
            <a:endParaRPr lang="en-US" sz="1000" dirty="0"/>
          </a:p>
        </p:txBody>
      </p:sp>
      <p:sp>
        <p:nvSpPr>
          <p:cNvPr id="44" name="Text 42"/>
          <p:cNvSpPr txBox="1"/>
          <p:nvPr/>
        </p:nvSpPr>
        <p:spPr>
          <a:xfrm>
            <a:off x="3493008" y="38679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45" name="Shape 43"/>
          <p:cNvSpPr/>
          <p:nvPr/>
        </p:nvSpPr>
        <p:spPr>
          <a:xfrm>
            <a:off x="4389120" y="3973068"/>
            <a:ext cx="628361" cy="91440"/>
          </a:xfrm>
          <a:prstGeom prst="rect">
            <a:avLst/>
          </a:prstGeom>
          <a:solidFill>
            <a:srgbClr val="93A1AA"/>
          </a:solidFill>
          <a:ln w="12700">
            <a:solidFill>
              <a:srgbClr val="333333"/>
            </a:solidFill>
            <a:prstDash val="solid"/>
          </a:ln>
        </p:spPr>
      </p:sp>
      <p:sp>
        <p:nvSpPr>
          <p:cNvPr id="46" name="Text 44"/>
          <p:cNvSpPr txBox="1"/>
          <p:nvPr/>
        </p:nvSpPr>
        <p:spPr>
          <a:xfrm>
            <a:off x="5248656" y="38679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1.830</a:t>
            </a:r>
            <a:endParaRPr lang="en-US" sz="950" dirty="0"/>
          </a:p>
        </p:txBody>
      </p:sp>
      <p:sp>
        <p:nvSpPr>
          <p:cNvPr id="47" name="Shape 45"/>
          <p:cNvSpPr/>
          <p:nvPr/>
        </p:nvSpPr>
        <p:spPr>
          <a:xfrm>
            <a:off x="566928" y="4210812"/>
            <a:ext cx="5221224" cy="301752"/>
          </a:xfrm>
          <a:prstGeom prst="roundRect">
            <a:avLst>
              <a:gd name="adj" fmla="val 15152"/>
            </a:avLst>
          </a:prstGeom>
          <a:solidFill>
            <a:srgbClr val="FFFFFF"/>
          </a:solidFill>
          <a:ln w="7620">
            <a:solidFill>
              <a:srgbClr val="D7DDE2"/>
            </a:solidFill>
            <a:prstDash val="solid"/>
          </a:ln>
        </p:spPr>
      </p:sp>
      <p:sp>
        <p:nvSpPr>
          <p:cNvPr id="48" name="Text 46"/>
          <p:cNvSpPr txBox="1"/>
          <p:nvPr/>
        </p:nvSpPr>
        <p:spPr>
          <a:xfrm>
            <a:off x="658368" y="42108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8</a:t>
            </a:r>
            <a:endParaRPr lang="en-US" sz="950" dirty="0"/>
          </a:p>
        </p:txBody>
      </p:sp>
      <p:sp>
        <p:nvSpPr>
          <p:cNvPr id="49" name="Text 47"/>
          <p:cNvSpPr txBox="1"/>
          <p:nvPr/>
        </p:nvSpPr>
        <p:spPr>
          <a:xfrm>
            <a:off x="1078992" y="42108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gpt-5.2</a:t>
            </a:r>
            <a:endParaRPr lang="en-US" sz="1000" dirty="0"/>
          </a:p>
        </p:txBody>
      </p:sp>
      <p:sp>
        <p:nvSpPr>
          <p:cNvPr id="50" name="Text 48"/>
          <p:cNvSpPr txBox="1"/>
          <p:nvPr/>
        </p:nvSpPr>
        <p:spPr>
          <a:xfrm>
            <a:off x="3493008" y="42108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51" name="Shape 49"/>
          <p:cNvSpPr/>
          <p:nvPr/>
        </p:nvSpPr>
        <p:spPr>
          <a:xfrm>
            <a:off x="4389120" y="4315968"/>
            <a:ext cx="613939" cy="91440"/>
          </a:xfrm>
          <a:prstGeom prst="rect">
            <a:avLst/>
          </a:prstGeom>
          <a:solidFill>
            <a:srgbClr val="93A1AA"/>
          </a:solidFill>
          <a:ln w="12700">
            <a:solidFill>
              <a:srgbClr val="333333"/>
            </a:solidFill>
            <a:prstDash val="solid"/>
          </a:ln>
        </p:spPr>
      </p:sp>
      <p:sp>
        <p:nvSpPr>
          <p:cNvPr id="52" name="Text 50"/>
          <p:cNvSpPr txBox="1"/>
          <p:nvPr/>
        </p:nvSpPr>
        <p:spPr>
          <a:xfrm>
            <a:off x="5248656" y="42108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1.788</a:t>
            </a:r>
            <a:endParaRPr lang="en-US" sz="950" dirty="0"/>
          </a:p>
        </p:txBody>
      </p:sp>
      <p:sp>
        <p:nvSpPr>
          <p:cNvPr id="53" name="Shape 51"/>
          <p:cNvSpPr/>
          <p:nvPr/>
        </p:nvSpPr>
        <p:spPr>
          <a:xfrm>
            <a:off x="566928" y="4553712"/>
            <a:ext cx="5221224" cy="301752"/>
          </a:xfrm>
          <a:prstGeom prst="roundRect">
            <a:avLst>
              <a:gd name="adj" fmla="val 15152"/>
            </a:avLst>
          </a:prstGeom>
          <a:solidFill>
            <a:srgbClr val="EEF1F3"/>
          </a:solidFill>
          <a:ln w="7620">
            <a:solidFill>
              <a:srgbClr val="D7DDE2"/>
            </a:solidFill>
            <a:prstDash val="solid"/>
          </a:ln>
        </p:spPr>
      </p:sp>
      <p:sp>
        <p:nvSpPr>
          <p:cNvPr id="54" name="Text 52"/>
          <p:cNvSpPr txBox="1"/>
          <p:nvPr/>
        </p:nvSpPr>
        <p:spPr>
          <a:xfrm>
            <a:off x="658368" y="45537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9</a:t>
            </a:r>
            <a:endParaRPr lang="en-US" sz="950" dirty="0"/>
          </a:p>
        </p:txBody>
      </p:sp>
      <p:sp>
        <p:nvSpPr>
          <p:cNvPr id="55" name="Text 53"/>
          <p:cNvSpPr txBox="1"/>
          <p:nvPr/>
        </p:nvSpPr>
        <p:spPr>
          <a:xfrm>
            <a:off x="1078992" y="45537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o4-mini</a:t>
            </a:r>
            <a:endParaRPr lang="en-US" sz="1000" dirty="0"/>
          </a:p>
        </p:txBody>
      </p:sp>
      <p:sp>
        <p:nvSpPr>
          <p:cNvPr id="56" name="Text 54"/>
          <p:cNvSpPr txBox="1"/>
          <p:nvPr/>
        </p:nvSpPr>
        <p:spPr>
          <a:xfrm>
            <a:off x="3493008" y="45537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57" name="Shape 55"/>
          <p:cNvSpPr/>
          <p:nvPr/>
        </p:nvSpPr>
        <p:spPr>
          <a:xfrm>
            <a:off x="4389120" y="4658868"/>
            <a:ext cx="609132" cy="91440"/>
          </a:xfrm>
          <a:prstGeom prst="rect">
            <a:avLst/>
          </a:prstGeom>
          <a:solidFill>
            <a:srgbClr val="93A1AA"/>
          </a:solidFill>
          <a:ln w="12700">
            <a:solidFill>
              <a:srgbClr val="333333"/>
            </a:solidFill>
            <a:prstDash val="solid"/>
          </a:ln>
        </p:spPr>
      </p:sp>
      <p:sp>
        <p:nvSpPr>
          <p:cNvPr id="58" name="Text 56"/>
          <p:cNvSpPr txBox="1"/>
          <p:nvPr/>
        </p:nvSpPr>
        <p:spPr>
          <a:xfrm>
            <a:off x="5248656" y="45537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1.774</a:t>
            </a:r>
            <a:endParaRPr lang="en-US" sz="950" dirty="0"/>
          </a:p>
        </p:txBody>
      </p:sp>
      <p:sp>
        <p:nvSpPr>
          <p:cNvPr id="59" name="Shape 57"/>
          <p:cNvSpPr/>
          <p:nvPr/>
        </p:nvSpPr>
        <p:spPr>
          <a:xfrm>
            <a:off x="566928" y="4896612"/>
            <a:ext cx="5221224" cy="301752"/>
          </a:xfrm>
          <a:prstGeom prst="roundRect">
            <a:avLst>
              <a:gd name="adj" fmla="val 15152"/>
            </a:avLst>
          </a:prstGeom>
          <a:solidFill>
            <a:srgbClr val="FFFFFF"/>
          </a:solidFill>
          <a:ln w="7620">
            <a:solidFill>
              <a:srgbClr val="D7DDE2"/>
            </a:solidFill>
            <a:prstDash val="solid"/>
          </a:ln>
        </p:spPr>
      </p:sp>
      <p:sp>
        <p:nvSpPr>
          <p:cNvPr id="60" name="Text 58"/>
          <p:cNvSpPr txBox="1"/>
          <p:nvPr/>
        </p:nvSpPr>
        <p:spPr>
          <a:xfrm>
            <a:off x="658368" y="48966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10</a:t>
            </a:r>
            <a:endParaRPr lang="en-US" sz="950" dirty="0"/>
          </a:p>
        </p:txBody>
      </p:sp>
      <p:sp>
        <p:nvSpPr>
          <p:cNvPr id="61" name="Text 59"/>
          <p:cNvSpPr txBox="1"/>
          <p:nvPr/>
        </p:nvSpPr>
        <p:spPr>
          <a:xfrm>
            <a:off x="1078992" y="48966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glm-4.5</a:t>
            </a:r>
            <a:endParaRPr lang="en-US" sz="1000" dirty="0"/>
          </a:p>
        </p:txBody>
      </p:sp>
      <p:sp>
        <p:nvSpPr>
          <p:cNvPr id="62" name="Text 60"/>
          <p:cNvSpPr txBox="1"/>
          <p:nvPr/>
        </p:nvSpPr>
        <p:spPr>
          <a:xfrm>
            <a:off x="3493008" y="48966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63" name="Shape 61"/>
          <p:cNvSpPr/>
          <p:nvPr/>
        </p:nvSpPr>
        <p:spPr>
          <a:xfrm>
            <a:off x="4389120" y="5001768"/>
            <a:ext cx="604668" cy="91440"/>
          </a:xfrm>
          <a:prstGeom prst="rect">
            <a:avLst/>
          </a:prstGeom>
          <a:solidFill>
            <a:srgbClr val="93A1AA"/>
          </a:solidFill>
          <a:ln w="12700">
            <a:solidFill>
              <a:srgbClr val="333333"/>
            </a:solidFill>
            <a:prstDash val="solid"/>
          </a:ln>
        </p:spPr>
      </p:sp>
      <p:sp>
        <p:nvSpPr>
          <p:cNvPr id="64" name="Text 62"/>
          <p:cNvSpPr txBox="1"/>
          <p:nvPr/>
        </p:nvSpPr>
        <p:spPr>
          <a:xfrm>
            <a:off x="5248656" y="48966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1.761</a:t>
            </a:r>
            <a:endParaRPr lang="en-US" sz="950" dirty="0"/>
          </a:p>
        </p:txBody>
      </p:sp>
      <p:sp>
        <p:nvSpPr>
          <p:cNvPr id="65" name="Shape 63"/>
          <p:cNvSpPr/>
          <p:nvPr/>
        </p:nvSpPr>
        <p:spPr>
          <a:xfrm>
            <a:off x="566928" y="5239512"/>
            <a:ext cx="5221224" cy="301752"/>
          </a:xfrm>
          <a:prstGeom prst="roundRect">
            <a:avLst>
              <a:gd name="adj" fmla="val 15152"/>
            </a:avLst>
          </a:prstGeom>
          <a:solidFill>
            <a:srgbClr val="EEF1F3"/>
          </a:solidFill>
          <a:ln w="7620">
            <a:solidFill>
              <a:srgbClr val="D7DDE2"/>
            </a:solidFill>
            <a:prstDash val="solid"/>
          </a:ln>
        </p:spPr>
      </p:sp>
      <p:sp>
        <p:nvSpPr>
          <p:cNvPr id="66" name="Text 64"/>
          <p:cNvSpPr txBox="1"/>
          <p:nvPr/>
        </p:nvSpPr>
        <p:spPr>
          <a:xfrm>
            <a:off x="658368" y="52395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11</a:t>
            </a:r>
            <a:endParaRPr lang="en-US" sz="950" dirty="0"/>
          </a:p>
        </p:txBody>
      </p:sp>
      <p:sp>
        <p:nvSpPr>
          <p:cNvPr id="67" name="Text 65"/>
          <p:cNvSpPr txBox="1"/>
          <p:nvPr/>
        </p:nvSpPr>
        <p:spPr>
          <a:xfrm>
            <a:off x="1078992" y="52395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claude-sonnet-4-5-20250929</a:t>
            </a:r>
            <a:endParaRPr lang="en-US" sz="1000" dirty="0"/>
          </a:p>
        </p:txBody>
      </p:sp>
      <p:sp>
        <p:nvSpPr>
          <p:cNvPr id="68" name="Text 66"/>
          <p:cNvSpPr txBox="1"/>
          <p:nvPr/>
        </p:nvSpPr>
        <p:spPr>
          <a:xfrm>
            <a:off x="3493008" y="52395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69" name="Shape 67"/>
          <p:cNvSpPr/>
          <p:nvPr/>
        </p:nvSpPr>
        <p:spPr>
          <a:xfrm>
            <a:off x="4389120" y="5344668"/>
            <a:ext cx="586127" cy="91440"/>
          </a:xfrm>
          <a:prstGeom prst="rect">
            <a:avLst/>
          </a:prstGeom>
          <a:solidFill>
            <a:srgbClr val="93A1AA"/>
          </a:solidFill>
          <a:ln w="12700">
            <a:solidFill>
              <a:srgbClr val="333333"/>
            </a:solidFill>
            <a:prstDash val="solid"/>
          </a:ln>
        </p:spPr>
      </p:sp>
      <p:sp>
        <p:nvSpPr>
          <p:cNvPr id="70" name="Text 68"/>
          <p:cNvSpPr txBox="1"/>
          <p:nvPr/>
        </p:nvSpPr>
        <p:spPr>
          <a:xfrm>
            <a:off x="5248656" y="52395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1.707</a:t>
            </a:r>
            <a:endParaRPr lang="en-US" sz="950" dirty="0"/>
          </a:p>
        </p:txBody>
      </p:sp>
      <p:sp>
        <p:nvSpPr>
          <p:cNvPr id="71" name="Shape 69"/>
          <p:cNvSpPr/>
          <p:nvPr/>
        </p:nvSpPr>
        <p:spPr>
          <a:xfrm>
            <a:off x="566928" y="5582412"/>
            <a:ext cx="5221224" cy="301752"/>
          </a:xfrm>
          <a:prstGeom prst="roundRect">
            <a:avLst>
              <a:gd name="adj" fmla="val 15152"/>
            </a:avLst>
          </a:prstGeom>
          <a:solidFill>
            <a:srgbClr val="FFFFFF"/>
          </a:solidFill>
          <a:ln w="7620">
            <a:solidFill>
              <a:srgbClr val="D7DDE2"/>
            </a:solidFill>
            <a:prstDash val="solid"/>
          </a:ln>
        </p:spPr>
      </p:sp>
      <p:sp>
        <p:nvSpPr>
          <p:cNvPr id="72" name="Text 70"/>
          <p:cNvSpPr txBox="1"/>
          <p:nvPr/>
        </p:nvSpPr>
        <p:spPr>
          <a:xfrm>
            <a:off x="658368" y="55824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12</a:t>
            </a:r>
            <a:endParaRPr lang="en-US" sz="950" dirty="0"/>
          </a:p>
        </p:txBody>
      </p:sp>
      <p:sp>
        <p:nvSpPr>
          <p:cNvPr id="73" name="Text 71"/>
          <p:cNvSpPr txBox="1"/>
          <p:nvPr/>
        </p:nvSpPr>
        <p:spPr>
          <a:xfrm>
            <a:off x="1078992" y="55824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deepseek-reasoner</a:t>
            </a:r>
            <a:endParaRPr lang="en-US" sz="1000" dirty="0"/>
          </a:p>
        </p:txBody>
      </p:sp>
      <p:sp>
        <p:nvSpPr>
          <p:cNvPr id="74" name="Text 72"/>
          <p:cNvSpPr txBox="1"/>
          <p:nvPr/>
        </p:nvSpPr>
        <p:spPr>
          <a:xfrm>
            <a:off x="3493008" y="55824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75" name="Shape 73"/>
          <p:cNvSpPr/>
          <p:nvPr/>
        </p:nvSpPr>
        <p:spPr>
          <a:xfrm>
            <a:off x="4389120" y="5687568"/>
            <a:ext cx="576512" cy="91440"/>
          </a:xfrm>
          <a:prstGeom prst="rect">
            <a:avLst/>
          </a:prstGeom>
          <a:solidFill>
            <a:srgbClr val="93A1AA"/>
          </a:solidFill>
          <a:ln w="12700">
            <a:solidFill>
              <a:srgbClr val="333333"/>
            </a:solidFill>
            <a:prstDash val="solid"/>
          </a:ln>
        </p:spPr>
      </p:sp>
      <p:sp>
        <p:nvSpPr>
          <p:cNvPr id="76" name="Text 74"/>
          <p:cNvSpPr txBox="1"/>
          <p:nvPr/>
        </p:nvSpPr>
        <p:spPr>
          <a:xfrm>
            <a:off x="5248656" y="55824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1.679</a:t>
            </a:r>
            <a:endParaRPr lang="en-US" sz="950" dirty="0"/>
          </a:p>
        </p:txBody>
      </p:sp>
      <p:sp>
        <p:nvSpPr>
          <p:cNvPr id="77" name="Shape 75"/>
          <p:cNvSpPr/>
          <p:nvPr/>
        </p:nvSpPr>
        <p:spPr>
          <a:xfrm>
            <a:off x="6400800" y="1810512"/>
            <a:ext cx="5221224" cy="301752"/>
          </a:xfrm>
          <a:prstGeom prst="roundRect">
            <a:avLst>
              <a:gd name="adj" fmla="val 15152"/>
            </a:avLst>
          </a:prstGeom>
          <a:solidFill>
            <a:srgbClr val="EEF1F3"/>
          </a:solidFill>
          <a:ln w="7620">
            <a:solidFill>
              <a:srgbClr val="D7DDE2"/>
            </a:solidFill>
            <a:prstDash val="solid"/>
          </a:ln>
        </p:spPr>
      </p:sp>
      <p:sp>
        <p:nvSpPr>
          <p:cNvPr id="78" name="Text 76"/>
          <p:cNvSpPr txBox="1"/>
          <p:nvPr/>
        </p:nvSpPr>
        <p:spPr>
          <a:xfrm>
            <a:off x="6492240" y="18105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13</a:t>
            </a:r>
            <a:endParaRPr lang="en-US" sz="950" dirty="0"/>
          </a:p>
        </p:txBody>
      </p:sp>
      <p:sp>
        <p:nvSpPr>
          <p:cNvPr id="79" name="Text 77"/>
          <p:cNvSpPr txBox="1"/>
          <p:nvPr/>
        </p:nvSpPr>
        <p:spPr>
          <a:xfrm>
            <a:off x="6912864" y="18105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gpt-5.4</a:t>
            </a:r>
            <a:endParaRPr lang="en-US" sz="1000" dirty="0"/>
          </a:p>
        </p:txBody>
      </p:sp>
      <p:sp>
        <p:nvSpPr>
          <p:cNvPr id="80" name="Text 78"/>
          <p:cNvSpPr txBox="1"/>
          <p:nvPr/>
        </p:nvSpPr>
        <p:spPr>
          <a:xfrm>
            <a:off x="9326880" y="18105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81" name="Shape 79"/>
          <p:cNvSpPr/>
          <p:nvPr/>
        </p:nvSpPr>
        <p:spPr>
          <a:xfrm>
            <a:off x="10222992" y="1915668"/>
            <a:ext cx="538055" cy="91440"/>
          </a:xfrm>
          <a:prstGeom prst="rect">
            <a:avLst/>
          </a:prstGeom>
          <a:solidFill>
            <a:srgbClr val="93A1AA"/>
          </a:solidFill>
          <a:ln w="12700">
            <a:solidFill>
              <a:srgbClr val="333333"/>
            </a:solidFill>
            <a:prstDash val="solid"/>
          </a:ln>
        </p:spPr>
      </p:sp>
      <p:sp>
        <p:nvSpPr>
          <p:cNvPr id="82" name="Text 80"/>
          <p:cNvSpPr txBox="1"/>
          <p:nvPr/>
        </p:nvSpPr>
        <p:spPr>
          <a:xfrm>
            <a:off x="11082528" y="18105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1.567</a:t>
            </a:r>
            <a:endParaRPr lang="en-US" sz="950" dirty="0"/>
          </a:p>
        </p:txBody>
      </p:sp>
      <p:sp>
        <p:nvSpPr>
          <p:cNvPr id="83" name="Shape 81"/>
          <p:cNvSpPr/>
          <p:nvPr/>
        </p:nvSpPr>
        <p:spPr>
          <a:xfrm>
            <a:off x="6400800" y="2153412"/>
            <a:ext cx="5221224" cy="301752"/>
          </a:xfrm>
          <a:prstGeom prst="roundRect">
            <a:avLst>
              <a:gd name="adj" fmla="val 15152"/>
            </a:avLst>
          </a:prstGeom>
          <a:solidFill>
            <a:srgbClr val="FFFFFF"/>
          </a:solidFill>
          <a:ln w="7620">
            <a:solidFill>
              <a:srgbClr val="D7DDE2"/>
            </a:solidFill>
            <a:prstDash val="solid"/>
          </a:ln>
        </p:spPr>
      </p:sp>
      <p:sp>
        <p:nvSpPr>
          <p:cNvPr id="84" name="Text 82"/>
          <p:cNvSpPr txBox="1"/>
          <p:nvPr/>
        </p:nvSpPr>
        <p:spPr>
          <a:xfrm>
            <a:off x="6492240" y="21534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14</a:t>
            </a:r>
            <a:endParaRPr lang="en-US" sz="950" dirty="0"/>
          </a:p>
        </p:txBody>
      </p:sp>
      <p:sp>
        <p:nvSpPr>
          <p:cNvPr id="85" name="Text 83"/>
          <p:cNvSpPr txBox="1"/>
          <p:nvPr/>
        </p:nvSpPr>
        <p:spPr>
          <a:xfrm>
            <a:off x="6912864" y="21534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claude-opus-4-20250514</a:t>
            </a:r>
            <a:endParaRPr lang="en-US" sz="1000" dirty="0"/>
          </a:p>
        </p:txBody>
      </p:sp>
      <p:sp>
        <p:nvSpPr>
          <p:cNvPr id="86" name="Text 84"/>
          <p:cNvSpPr txBox="1"/>
          <p:nvPr/>
        </p:nvSpPr>
        <p:spPr>
          <a:xfrm>
            <a:off x="9326880" y="21534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87" name="Shape 85"/>
          <p:cNvSpPr/>
          <p:nvPr/>
        </p:nvSpPr>
        <p:spPr>
          <a:xfrm>
            <a:off x="10222992" y="2258568"/>
            <a:ext cx="514020" cy="91440"/>
          </a:xfrm>
          <a:prstGeom prst="rect">
            <a:avLst/>
          </a:prstGeom>
          <a:solidFill>
            <a:srgbClr val="93A1AA"/>
          </a:solidFill>
          <a:ln w="12700">
            <a:solidFill>
              <a:srgbClr val="333333"/>
            </a:solidFill>
            <a:prstDash val="solid"/>
          </a:ln>
        </p:spPr>
      </p:sp>
      <p:sp>
        <p:nvSpPr>
          <p:cNvPr id="88" name="Text 86"/>
          <p:cNvSpPr txBox="1"/>
          <p:nvPr/>
        </p:nvSpPr>
        <p:spPr>
          <a:xfrm>
            <a:off x="11082528" y="21534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1.497</a:t>
            </a:r>
            <a:endParaRPr lang="en-US" sz="950" dirty="0"/>
          </a:p>
        </p:txBody>
      </p:sp>
      <p:sp>
        <p:nvSpPr>
          <p:cNvPr id="89" name="Shape 87"/>
          <p:cNvSpPr/>
          <p:nvPr/>
        </p:nvSpPr>
        <p:spPr>
          <a:xfrm>
            <a:off x="6400800" y="2496312"/>
            <a:ext cx="5221224" cy="301752"/>
          </a:xfrm>
          <a:prstGeom prst="roundRect">
            <a:avLst>
              <a:gd name="adj" fmla="val 15152"/>
            </a:avLst>
          </a:prstGeom>
          <a:solidFill>
            <a:srgbClr val="EEF1F3"/>
          </a:solidFill>
          <a:ln w="7620">
            <a:solidFill>
              <a:srgbClr val="D7DDE2"/>
            </a:solidFill>
            <a:prstDash val="solid"/>
          </a:ln>
        </p:spPr>
      </p:sp>
      <p:sp>
        <p:nvSpPr>
          <p:cNvPr id="90" name="Text 88"/>
          <p:cNvSpPr txBox="1"/>
          <p:nvPr/>
        </p:nvSpPr>
        <p:spPr>
          <a:xfrm>
            <a:off x="6492240" y="24963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15</a:t>
            </a:r>
            <a:endParaRPr lang="en-US" sz="950" dirty="0"/>
          </a:p>
        </p:txBody>
      </p:sp>
      <p:sp>
        <p:nvSpPr>
          <p:cNvPr id="91" name="Text 89"/>
          <p:cNvSpPr txBox="1"/>
          <p:nvPr/>
        </p:nvSpPr>
        <p:spPr>
          <a:xfrm>
            <a:off x="6912864" y="24963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gemini-3-pro-preview</a:t>
            </a:r>
            <a:endParaRPr lang="en-US" sz="1000" dirty="0"/>
          </a:p>
        </p:txBody>
      </p:sp>
      <p:sp>
        <p:nvSpPr>
          <p:cNvPr id="92" name="Text 90"/>
          <p:cNvSpPr txBox="1"/>
          <p:nvPr/>
        </p:nvSpPr>
        <p:spPr>
          <a:xfrm>
            <a:off x="9326880" y="24963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93" name="Shape 91"/>
          <p:cNvSpPr/>
          <p:nvPr/>
        </p:nvSpPr>
        <p:spPr>
          <a:xfrm>
            <a:off x="10222992" y="2601468"/>
            <a:ext cx="509213" cy="91440"/>
          </a:xfrm>
          <a:prstGeom prst="rect">
            <a:avLst/>
          </a:prstGeom>
          <a:solidFill>
            <a:srgbClr val="93A1AA"/>
          </a:solidFill>
          <a:ln w="12700">
            <a:solidFill>
              <a:srgbClr val="333333"/>
            </a:solidFill>
            <a:prstDash val="solid"/>
          </a:ln>
        </p:spPr>
      </p:sp>
      <p:sp>
        <p:nvSpPr>
          <p:cNvPr id="94" name="Text 92"/>
          <p:cNvSpPr txBox="1"/>
          <p:nvPr/>
        </p:nvSpPr>
        <p:spPr>
          <a:xfrm>
            <a:off x="11082528" y="24963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1.483</a:t>
            </a:r>
            <a:endParaRPr lang="en-US" sz="950" dirty="0"/>
          </a:p>
        </p:txBody>
      </p:sp>
      <p:sp>
        <p:nvSpPr>
          <p:cNvPr id="95" name="Shape 93"/>
          <p:cNvSpPr/>
          <p:nvPr/>
        </p:nvSpPr>
        <p:spPr>
          <a:xfrm>
            <a:off x="6400800" y="2839212"/>
            <a:ext cx="5221224" cy="301752"/>
          </a:xfrm>
          <a:prstGeom prst="roundRect">
            <a:avLst>
              <a:gd name="adj" fmla="val 15152"/>
            </a:avLst>
          </a:prstGeom>
          <a:solidFill>
            <a:srgbClr val="FFFFFF"/>
          </a:solidFill>
          <a:ln w="7620">
            <a:solidFill>
              <a:srgbClr val="D7DDE2"/>
            </a:solidFill>
            <a:prstDash val="solid"/>
          </a:ln>
        </p:spPr>
      </p:sp>
      <p:sp>
        <p:nvSpPr>
          <p:cNvPr id="96" name="Text 94"/>
          <p:cNvSpPr txBox="1"/>
          <p:nvPr/>
        </p:nvSpPr>
        <p:spPr>
          <a:xfrm>
            <a:off x="6492240" y="28392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16</a:t>
            </a:r>
            <a:endParaRPr lang="en-US" sz="950" dirty="0"/>
          </a:p>
        </p:txBody>
      </p:sp>
      <p:sp>
        <p:nvSpPr>
          <p:cNvPr id="97" name="Text 95"/>
          <p:cNvSpPr txBox="1"/>
          <p:nvPr/>
        </p:nvSpPr>
        <p:spPr>
          <a:xfrm>
            <a:off x="6912864" y="28392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qwen3-coder</a:t>
            </a:r>
            <a:endParaRPr lang="en-US" sz="1000" dirty="0"/>
          </a:p>
        </p:txBody>
      </p:sp>
      <p:sp>
        <p:nvSpPr>
          <p:cNvPr id="98" name="Text 96"/>
          <p:cNvSpPr txBox="1"/>
          <p:nvPr/>
        </p:nvSpPr>
        <p:spPr>
          <a:xfrm>
            <a:off x="9326880" y="28392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99" name="Shape 97"/>
          <p:cNvSpPr/>
          <p:nvPr/>
        </p:nvSpPr>
        <p:spPr>
          <a:xfrm>
            <a:off x="10222992" y="2944368"/>
            <a:ext cx="481743" cy="91440"/>
          </a:xfrm>
          <a:prstGeom prst="rect">
            <a:avLst/>
          </a:prstGeom>
          <a:solidFill>
            <a:srgbClr val="93A1AA"/>
          </a:solidFill>
          <a:ln w="12700">
            <a:solidFill>
              <a:srgbClr val="333333"/>
            </a:solidFill>
            <a:prstDash val="solid"/>
          </a:ln>
        </p:spPr>
      </p:sp>
      <p:sp>
        <p:nvSpPr>
          <p:cNvPr id="100" name="Text 98"/>
          <p:cNvSpPr txBox="1"/>
          <p:nvPr/>
        </p:nvSpPr>
        <p:spPr>
          <a:xfrm>
            <a:off x="11082528" y="28392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1.403</a:t>
            </a:r>
            <a:endParaRPr lang="en-US" sz="950" dirty="0"/>
          </a:p>
        </p:txBody>
      </p:sp>
      <p:sp>
        <p:nvSpPr>
          <p:cNvPr id="101" name="Shape 99"/>
          <p:cNvSpPr/>
          <p:nvPr/>
        </p:nvSpPr>
        <p:spPr>
          <a:xfrm>
            <a:off x="6400800" y="3182112"/>
            <a:ext cx="5221224" cy="301752"/>
          </a:xfrm>
          <a:prstGeom prst="roundRect">
            <a:avLst>
              <a:gd name="adj" fmla="val 15152"/>
            </a:avLst>
          </a:prstGeom>
          <a:solidFill>
            <a:srgbClr val="EEF1F3"/>
          </a:solidFill>
          <a:ln w="7620">
            <a:solidFill>
              <a:srgbClr val="D7DDE2"/>
            </a:solidFill>
            <a:prstDash val="solid"/>
          </a:ln>
        </p:spPr>
      </p:sp>
      <p:sp>
        <p:nvSpPr>
          <p:cNvPr id="102" name="Text 100"/>
          <p:cNvSpPr txBox="1"/>
          <p:nvPr/>
        </p:nvSpPr>
        <p:spPr>
          <a:xfrm>
            <a:off x="6492240" y="31821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17</a:t>
            </a:r>
            <a:endParaRPr lang="en-US" sz="950" dirty="0"/>
          </a:p>
        </p:txBody>
      </p:sp>
      <p:sp>
        <p:nvSpPr>
          <p:cNvPr id="103" name="Text 101"/>
          <p:cNvSpPr txBox="1"/>
          <p:nvPr/>
        </p:nvSpPr>
        <p:spPr>
          <a:xfrm>
            <a:off x="6912864" y="3182112"/>
            <a:ext cx="2395728" cy="301752"/>
          </a:xfrm>
          <a:prstGeom prst="rect">
            <a:avLst/>
          </a:prstGeom>
          <a:noFill/>
          <a:ln/>
        </p:spPr>
        <p:txBody>
          <a:bodyPr wrap="square" lIns="0" tIns="0" rIns="0" bIns="0" rtlCol="0" anchor="ctr"/>
          <a:lstStyle/>
          <a:p>
            <a:pPr indent="0" marL="0">
              <a:buNone/>
            </a:pPr>
            <a:r>
              <a:rPr lang="en-US" sz="1000" dirty="0">
                <a:solidFill>
                  <a:srgbClr val="C2872B"/>
                </a:solidFill>
                <a:latin typeface="Calibri" pitchFamily="34" charset="0"/>
                <a:ea typeface="Calibri" pitchFamily="34" charset="-122"/>
                <a:cs typeface="Calibri" pitchFamily="34" charset="-120"/>
              </a:rPr>
              <a:t>Qwen3-14B, no RL</a:t>
            </a:r>
            <a:endParaRPr lang="en-US" sz="1000" dirty="0"/>
          </a:p>
        </p:txBody>
      </p:sp>
      <p:sp>
        <p:nvSpPr>
          <p:cNvPr id="104" name="Text 102"/>
          <p:cNvSpPr txBox="1"/>
          <p:nvPr/>
        </p:nvSpPr>
        <p:spPr>
          <a:xfrm>
            <a:off x="9326880" y="31821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OpenEvolve</a:t>
            </a:r>
            <a:endParaRPr lang="en-US" sz="750" dirty="0"/>
          </a:p>
        </p:txBody>
      </p:sp>
      <p:sp>
        <p:nvSpPr>
          <p:cNvPr id="105" name="Shape 103"/>
          <p:cNvSpPr/>
          <p:nvPr/>
        </p:nvSpPr>
        <p:spPr>
          <a:xfrm>
            <a:off x="10222992" y="3287268"/>
            <a:ext cx="477966" cy="91440"/>
          </a:xfrm>
          <a:prstGeom prst="rect">
            <a:avLst/>
          </a:prstGeom>
          <a:solidFill>
            <a:srgbClr val="C2872B"/>
          </a:solidFill>
          <a:ln w="12700">
            <a:solidFill>
              <a:srgbClr val="333333"/>
            </a:solidFill>
            <a:prstDash val="solid"/>
          </a:ln>
        </p:spPr>
      </p:sp>
      <p:sp>
        <p:nvSpPr>
          <p:cNvPr id="106" name="Text 104"/>
          <p:cNvSpPr txBox="1"/>
          <p:nvPr/>
        </p:nvSpPr>
        <p:spPr>
          <a:xfrm>
            <a:off x="11082528" y="31821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1.392</a:t>
            </a:r>
            <a:endParaRPr lang="en-US" sz="950" dirty="0"/>
          </a:p>
        </p:txBody>
      </p:sp>
      <p:sp>
        <p:nvSpPr>
          <p:cNvPr id="107" name="Shape 105"/>
          <p:cNvSpPr/>
          <p:nvPr/>
        </p:nvSpPr>
        <p:spPr>
          <a:xfrm>
            <a:off x="6400800" y="3525012"/>
            <a:ext cx="5221224" cy="301752"/>
          </a:xfrm>
          <a:prstGeom prst="roundRect">
            <a:avLst>
              <a:gd name="adj" fmla="val 15152"/>
            </a:avLst>
          </a:prstGeom>
          <a:solidFill>
            <a:srgbClr val="FFFFFF"/>
          </a:solidFill>
          <a:ln w="7620">
            <a:solidFill>
              <a:srgbClr val="D7DDE2"/>
            </a:solidFill>
            <a:prstDash val="solid"/>
          </a:ln>
        </p:spPr>
      </p:sp>
      <p:sp>
        <p:nvSpPr>
          <p:cNvPr id="108" name="Text 106"/>
          <p:cNvSpPr txBox="1"/>
          <p:nvPr/>
        </p:nvSpPr>
        <p:spPr>
          <a:xfrm>
            <a:off x="6492240" y="35250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18</a:t>
            </a:r>
            <a:endParaRPr lang="en-US" sz="950" dirty="0"/>
          </a:p>
        </p:txBody>
      </p:sp>
      <p:sp>
        <p:nvSpPr>
          <p:cNvPr id="109" name="Text 107"/>
          <p:cNvSpPr txBox="1"/>
          <p:nvPr/>
        </p:nvSpPr>
        <p:spPr>
          <a:xfrm>
            <a:off x="6912864" y="35250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gemini-2.5-pro</a:t>
            </a:r>
            <a:endParaRPr lang="en-US" sz="1000" dirty="0"/>
          </a:p>
        </p:txBody>
      </p:sp>
      <p:sp>
        <p:nvSpPr>
          <p:cNvPr id="110" name="Text 108"/>
          <p:cNvSpPr txBox="1"/>
          <p:nvPr/>
        </p:nvSpPr>
        <p:spPr>
          <a:xfrm>
            <a:off x="9326880" y="35250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11" name="Shape 109"/>
          <p:cNvSpPr/>
          <p:nvPr/>
        </p:nvSpPr>
        <p:spPr>
          <a:xfrm>
            <a:off x="10222992" y="3630168"/>
            <a:ext cx="471786" cy="91440"/>
          </a:xfrm>
          <a:prstGeom prst="rect">
            <a:avLst/>
          </a:prstGeom>
          <a:solidFill>
            <a:srgbClr val="93A1AA"/>
          </a:solidFill>
          <a:ln w="12700">
            <a:solidFill>
              <a:srgbClr val="333333"/>
            </a:solidFill>
            <a:prstDash val="solid"/>
          </a:ln>
        </p:spPr>
      </p:sp>
      <p:sp>
        <p:nvSpPr>
          <p:cNvPr id="112" name="Text 110"/>
          <p:cNvSpPr txBox="1"/>
          <p:nvPr/>
        </p:nvSpPr>
        <p:spPr>
          <a:xfrm>
            <a:off x="11082528" y="35250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1.374</a:t>
            </a:r>
            <a:endParaRPr lang="en-US" sz="950" dirty="0"/>
          </a:p>
        </p:txBody>
      </p:sp>
      <p:sp>
        <p:nvSpPr>
          <p:cNvPr id="113" name="Shape 111"/>
          <p:cNvSpPr/>
          <p:nvPr/>
        </p:nvSpPr>
        <p:spPr>
          <a:xfrm>
            <a:off x="6400800" y="3867912"/>
            <a:ext cx="5221224" cy="301752"/>
          </a:xfrm>
          <a:prstGeom prst="roundRect">
            <a:avLst>
              <a:gd name="adj" fmla="val 15152"/>
            </a:avLst>
          </a:prstGeom>
          <a:solidFill>
            <a:srgbClr val="EEF1F3"/>
          </a:solidFill>
          <a:ln w="7620">
            <a:solidFill>
              <a:srgbClr val="D7DDE2"/>
            </a:solidFill>
            <a:prstDash val="solid"/>
          </a:ln>
        </p:spPr>
      </p:sp>
      <p:sp>
        <p:nvSpPr>
          <p:cNvPr id="114" name="Text 112"/>
          <p:cNvSpPr txBox="1"/>
          <p:nvPr/>
        </p:nvSpPr>
        <p:spPr>
          <a:xfrm>
            <a:off x="6492240" y="38679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19</a:t>
            </a:r>
            <a:endParaRPr lang="en-US" sz="950" dirty="0"/>
          </a:p>
        </p:txBody>
      </p:sp>
      <p:sp>
        <p:nvSpPr>
          <p:cNvPr id="115" name="Text 113"/>
          <p:cNvSpPr txBox="1"/>
          <p:nvPr/>
        </p:nvSpPr>
        <p:spPr>
          <a:xfrm>
            <a:off x="6912864" y="38679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claude-opus-4-1-20250805</a:t>
            </a:r>
            <a:endParaRPr lang="en-US" sz="1000" dirty="0"/>
          </a:p>
        </p:txBody>
      </p:sp>
      <p:sp>
        <p:nvSpPr>
          <p:cNvPr id="116" name="Text 114"/>
          <p:cNvSpPr txBox="1"/>
          <p:nvPr/>
        </p:nvSpPr>
        <p:spPr>
          <a:xfrm>
            <a:off x="9326880" y="38679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17" name="Shape 115"/>
          <p:cNvSpPr/>
          <p:nvPr/>
        </p:nvSpPr>
        <p:spPr>
          <a:xfrm>
            <a:off x="10222992" y="3973068"/>
            <a:ext cx="471442" cy="91440"/>
          </a:xfrm>
          <a:prstGeom prst="rect">
            <a:avLst/>
          </a:prstGeom>
          <a:solidFill>
            <a:srgbClr val="93A1AA"/>
          </a:solidFill>
          <a:ln w="12700">
            <a:solidFill>
              <a:srgbClr val="333333"/>
            </a:solidFill>
            <a:prstDash val="solid"/>
          </a:ln>
        </p:spPr>
      </p:sp>
      <p:sp>
        <p:nvSpPr>
          <p:cNvPr id="118" name="Text 116"/>
          <p:cNvSpPr txBox="1"/>
          <p:nvPr/>
        </p:nvSpPr>
        <p:spPr>
          <a:xfrm>
            <a:off x="11082528" y="38679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1.373</a:t>
            </a:r>
            <a:endParaRPr lang="en-US" sz="950" dirty="0"/>
          </a:p>
        </p:txBody>
      </p:sp>
      <p:sp>
        <p:nvSpPr>
          <p:cNvPr id="119" name="Shape 117"/>
          <p:cNvSpPr/>
          <p:nvPr/>
        </p:nvSpPr>
        <p:spPr>
          <a:xfrm>
            <a:off x="6400800" y="4210812"/>
            <a:ext cx="5221224" cy="301752"/>
          </a:xfrm>
          <a:prstGeom prst="roundRect">
            <a:avLst>
              <a:gd name="adj" fmla="val 15152"/>
            </a:avLst>
          </a:prstGeom>
          <a:solidFill>
            <a:srgbClr val="FFFFFF"/>
          </a:solidFill>
          <a:ln w="7620">
            <a:solidFill>
              <a:srgbClr val="D7DDE2"/>
            </a:solidFill>
            <a:prstDash val="solid"/>
          </a:ln>
        </p:spPr>
      </p:sp>
      <p:sp>
        <p:nvSpPr>
          <p:cNvPr id="120" name="Text 118"/>
          <p:cNvSpPr txBox="1"/>
          <p:nvPr/>
        </p:nvSpPr>
        <p:spPr>
          <a:xfrm>
            <a:off x="6492240" y="42108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20</a:t>
            </a:r>
            <a:endParaRPr lang="en-US" sz="950" dirty="0"/>
          </a:p>
        </p:txBody>
      </p:sp>
      <p:sp>
        <p:nvSpPr>
          <p:cNvPr id="121" name="Text 119"/>
          <p:cNvSpPr txBox="1"/>
          <p:nvPr/>
        </p:nvSpPr>
        <p:spPr>
          <a:xfrm>
            <a:off x="6912864" y="42108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a:t>
            </a:r>
            <a:endParaRPr lang="en-US" sz="1000" dirty="0"/>
          </a:p>
        </p:txBody>
      </p:sp>
      <p:sp>
        <p:nvSpPr>
          <p:cNvPr id="122" name="Text 120"/>
          <p:cNvSpPr txBox="1"/>
          <p:nvPr/>
        </p:nvSpPr>
        <p:spPr>
          <a:xfrm>
            <a:off x="9326880" y="42108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23" name="Shape 121"/>
          <p:cNvSpPr/>
          <p:nvPr/>
        </p:nvSpPr>
        <p:spPr>
          <a:xfrm>
            <a:off x="10222992" y="4315968"/>
            <a:ext cx="455991" cy="91440"/>
          </a:xfrm>
          <a:prstGeom prst="rect">
            <a:avLst/>
          </a:prstGeom>
          <a:solidFill>
            <a:srgbClr val="93A1AA"/>
          </a:solidFill>
          <a:ln w="12700">
            <a:solidFill>
              <a:srgbClr val="333333"/>
            </a:solidFill>
            <a:prstDash val="solid"/>
          </a:ln>
        </p:spPr>
      </p:sp>
      <p:sp>
        <p:nvSpPr>
          <p:cNvPr id="124" name="Text 122"/>
          <p:cNvSpPr txBox="1"/>
          <p:nvPr/>
        </p:nvSpPr>
        <p:spPr>
          <a:xfrm>
            <a:off x="11082528" y="42108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1.328</a:t>
            </a:r>
            <a:endParaRPr lang="en-US" sz="950" dirty="0"/>
          </a:p>
        </p:txBody>
      </p:sp>
      <p:sp>
        <p:nvSpPr>
          <p:cNvPr id="125" name="Shape 123"/>
          <p:cNvSpPr/>
          <p:nvPr/>
        </p:nvSpPr>
        <p:spPr>
          <a:xfrm>
            <a:off x="6400800" y="4553712"/>
            <a:ext cx="5221224" cy="301752"/>
          </a:xfrm>
          <a:prstGeom prst="roundRect">
            <a:avLst>
              <a:gd name="adj" fmla="val 15152"/>
            </a:avLst>
          </a:prstGeom>
          <a:solidFill>
            <a:srgbClr val="EEF1F3"/>
          </a:solidFill>
          <a:ln w="7620">
            <a:solidFill>
              <a:srgbClr val="D7DDE2"/>
            </a:solidFill>
            <a:prstDash val="solid"/>
          </a:ln>
        </p:spPr>
      </p:sp>
      <p:sp>
        <p:nvSpPr>
          <p:cNvPr id="126" name="Text 124"/>
          <p:cNvSpPr txBox="1"/>
          <p:nvPr/>
        </p:nvSpPr>
        <p:spPr>
          <a:xfrm>
            <a:off x="6492240" y="45537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21</a:t>
            </a:r>
            <a:endParaRPr lang="en-US" sz="950" dirty="0"/>
          </a:p>
        </p:txBody>
      </p:sp>
      <p:sp>
        <p:nvSpPr>
          <p:cNvPr id="127" name="Text 125"/>
          <p:cNvSpPr txBox="1"/>
          <p:nvPr/>
        </p:nvSpPr>
        <p:spPr>
          <a:xfrm>
            <a:off x="6912864" y="45537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gpt-5-pro (medium)</a:t>
            </a:r>
            <a:endParaRPr lang="en-US" sz="1000" dirty="0"/>
          </a:p>
        </p:txBody>
      </p:sp>
      <p:sp>
        <p:nvSpPr>
          <p:cNvPr id="128" name="Text 126"/>
          <p:cNvSpPr txBox="1"/>
          <p:nvPr/>
        </p:nvSpPr>
        <p:spPr>
          <a:xfrm>
            <a:off x="9326880" y="45537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29" name="Shape 127"/>
          <p:cNvSpPr/>
          <p:nvPr/>
        </p:nvSpPr>
        <p:spPr>
          <a:xfrm>
            <a:off x="10222992" y="4658868"/>
            <a:ext cx="449810" cy="91440"/>
          </a:xfrm>
          <a:prstGeom prst="rect">
            <a:avLst/>
          </a:prstGeom>
          <a:solidFill>
            <a:srgbClr val="93A1AA"/>
          </a:solidFill>
          <a:ln w="12700">
            <a:solidFill>
              <a:srgbClr val="333333"/>
            </a:solidFill>
            <a:prstDash val="solid"/>
          </a:ln>
        </p:spPr>
      </p:sp>
      <p:sp>
        <p:nvSpPr>
          <p:cNvPr id="130" name="Text 128"/>
          <p:cNvSpPr txBox="1"/>
          <p:nvPr/>
        </p:nvSpPr>
        <p:spPr>
          <a:xfrm>
            <a:off x="11082528" y="45537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1.310</a:t>
            </a:r>
            <a:endParaRPr lang="en-US" sz="950" dirty="0"/>
          </a:p>
        </p:txBody>
      </p:sp>
      <p:sp>
        <p:nvSpPr>
          <p:cNvPr id="131" name="Shape 129"/>
          <p:cNvSpPr/>
          <p:nvPr/>
        </p:nvSpPr>
        <p:spPr>
          <a:xfrm>
            <a:off x="6400800" y="4896612"/>
            <a:ext cx="5221224" cy="301752"/>
          </a:xfrm>
          <a:prstGeom prst="roundRect">
            <a:avLst>
              <a:gd name="adj" fmla="val 15152"/>
            </a:avLst>
          </a:prstGeom>
          <a:solidFill>
            <a:srgbClr val="FFFFFF"/>
          </a:solidFill>
          <a:ln w="7620">
            <a:solidFill>
              <a:srgbClr val="D7DDE2"/>
            </a:solidFill>
            <a:prstDash val="solid"/>
          </a:ln>
        </p:spPr>
      </p:sp>
      <p:sp>
        <p:nvSpPr>
          <p:cNvPr id="132" name="Text 130"/>
          <p:cNvSpPr txBox="1"/>
          <p:nvPr/>
        </p:nvSpPr>
        <p:spPr>
          <a:xfrm>
            <a:off x="6492240" y="48966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22</a:t>
            </a:r>
            <a:endParaRPr lang="en-US" sz="950" dirty="0"/>
          </a:p>
        </p:txBody>
      </p:sp>
      <p:sp>
        <p:nvSpPr>
          <p:cNvPr id="133" name="Text 131"/>
          <p:cNvSpPr txBox="1"/>
          <p:nvPr/>
        </p:nvSpPr>
        <p:spPr>
          <a:xfrm>
            <a:off x="6912864" y="48966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gpt-oss-120b</a:t>
            </a:r>
            <a:endParaRPr lang="en-US" sz="1000" dirty="0"/>
          </a:p>
        </p:txBody>
      </p:sp>
      <p:sp>
        <p:nvSpPr>
          <p:cNvPr id="134" name="Text 132"/>
          <p:cNvSpPr txBox="1"/>
          <p:nvPr/>
        </p:nvSpPr>
        <p:spPr>
          <a:xfrm>
            <a:off x="9326880" y="48966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35" name="Shape 133"/>
          <p:cNvSpPr/>
          <p:nvPr/>
        </p:nvSpPr>
        <p:spPr>
          <a:xfrm>
            <a:off x="10222992" y="5001768"/>
            <a:ext cx="449467" cy="91440"/>
          </a:xfrm>
          <a:prstGeom prst="rect">
            <a:avLst/>
          </a:prstGeom>
          <a:solidFill>
            <a:srgbClr val="93A1AA"/>
          </a:solidFill>
          <a:ln w="12700">
            <a:solidFill>
              <a:srgbClr val="333333"/>
            </a:solidFill>
            <a:prstDash val="solid"/>
          </a:ln>
        </p:spPr>
      </p:sp>
      <p:sp>
        <p:nvSpPr>
          <p:cNvPr id="136" name="Text 134"/>
          <p:cNvSpPr txBox="1"/>
          <p:nvPr/>
        </p:nvSpPr>
        <p:spPr>
          <a:xfrm>
            <a:off x="11082528" y="48966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1.309</a:t>
            </a:r>
            <a:endParaRPr lang="en-US" sz="950" dirty="0"/>
          </a:p>
        </p:txBody>
      </p:sp>
      <p:sp>
        <p:nvSpPr>
          <p:cNvPr id="137" name="Shape 135"/>
          <p:cNvSpPr/>
          <p:nvPr/>
        </p:nvSpPr>
        <p:spPr>
          <a:xfrm>
            <a:off x="6400800" y="5239512"/>
            <a:ext cx="5221224" cy="301752"/>
          </a:xfrm>
          <a:prstGeom prst="roundRect">
            <a:avLst>
              <a:gd name="adj" fmla="val 15152"/>
            </a:avLst>
          </a:prstGeom>
          <a:solidFill>
            <a:srgbClr val="EEF1F3"/>
          </a:solidFill>
          <a:ln w="7620">
            <a:solidFill>
              <a:srgbClr val="D7DDE2"/>
            </a:solidFill>
            <a:prstDash val="solid"/>
          </a:ln>
        </p:spPr>
      </p:sp>
      <p:sp>
        <p:nvSpPr>
          <p:cNvPr id="138" name="Text 136"/>
          <p:cNvSpPr txBox="1"/>
          <p:nvPr/>
        </p:nvSpPr>
        <p:spPr>
          <a:xfrm>
            <a:off x="6492240" y="5239512"/>
            <a:ext cx="329184" cy="301752"/>
          </a:xfrm>
          <a:prstGeom prst="rect">
            <a:avLst/>
          </a:prstGeom>
          <a:noFill/>
          <a:ln/>
        </p:spPr>
        <p:txBody>
          <a:bodyPr wrap="square" lIns="0" tIns="0" rIns="0" bIns="0" rtlCol="0" anchor="ctr"/>
          <a:lstStyle/>
          <a:p>
            <a:pPr algn="r" indent="0" marL="0">
              <a:buNone/>
            </a:pPr>
            <a:r>
              <a:rPr lang="en-US" sz="950" dirty="0">
                <a:solidFill>
                  <a:srgbClr val="93A1AA"/>
                </a:solidFill>
                <a:latin typeface="Calibri" pitchFamily="34" charset="0"/>
                <a:ea typeface="Calibri" pitchFamily="34" charset="-122"/>
                <a:cs typeface="Calibri" pitchFamily="34" charset="-120"/>
              </a:rPr>
              <a:t>23</a:t>
            </a:r>
            <a:endParaRPr lang="en-US" sz="950" dirty="0"/>
          </a:p>
        </p:txBody>
      </p:sp>
      <p:sp>
        <p:nvSpPr>
          <p:cNvPr id="139" name="Text 137"/>
          <p:cNvSpPr txBox="1"/>
          <p:nvPr/>
        </p:nvSpPr>
        <p:spPr>
          <a:xfrm>
            <a:off x="6912864" y="5239512"/>
            <a:ext cx="2395728" cy="301752"/>
          </a:xfrm>
          <a:prstGeom prst="rect">
            <a:avLst/>
          </a:prstGeom>
          <a:noFill/>
          <a:ln/>
        </p:spPr>
        <p:txBody>
          <a:bodyPr wrap="square" lIns="0" tIns="0" rIns="0" bIns="0" rtlCol="0" anchor="ctr"/>
          <a:lstStyle/>
          <a:p>
            <a:pPr indent="0" marL="0">
              <a:buNone/>
            </a:pPr>
            <a:r>
              <a:rPr lang="en-US" sz="1000" dirty="0">
                <a:solidFill>
                  <a:srgbClr val="93A1AA"/>
                </a:solidFill>
                <a:latin typeface="Calibri" pitchFamily="34" charset="0"/>
                <a:ea typeface="Calibri" pitchFamily="34" charset="-122"/>
                <a:cs typeface="Calibri" pitchFamily="34" charset="-120"/>
              </a:rPr>
              <a:t>gpt-5-mini</a:t>
            </a:r>
            <a:endParaRPr lang="en-US" sz="1000" dirty="0"/>
          </a:p>
        </p:txBody>
      </p:sp>
      <p:sp>
        <p:nvSpPr>
          <p:cNvPr id="140" name="Text 138"/>
          <p:cNvSpPr txBox="1"/>
          <p:nvPr/>
        </p:nvSpPr>
        <p:spPr>
          <a:xfrm>
            <a:off x="9326880" y="5239512"/>
            <a:ext cx="841248" cy="301752"/>
          </a:xfrm>
          <a:prstGeom prst="rect">
            <a:avLst/>
          </a:prstGeom>
          <a:noFill/>
          <a:ln/>
        </p:spPr>
        <p:txBody>
          <a:bodyPr wrap="square" lIns="0" tIns="0" rIns="0" bIns="0" rtlCol="0" anchor="ctr"/>
          <a:lstStyle/>
          <a:p>
            <a:pPr indent="0" marL="0">
              <a:buNone/>
            </a:pPr>
            <a:r>
              <a:rPr lang="en-US" sz="750" dirty="0">
                <a:solidFill>
                  <a:srgbClr val="93A1AA"/>
                </a:solidFill>
                <a:latin typeface="Calibri" pitchFamily="34" charset="0"/>
                <a:ea typeface="Calibri" pitchFamily="34" charset="-122"/>
                <a:cs typeface="Calibri" pitchFamily="34" charset="-120"/>
              </a:rPr>
              <a:t>AlgoTuner</a:t>
            </a:r>
            <a:endParaRPr lang="en-US" sz="750" dirty="0"/>
          </a:p>
        </p:txBody>
      </p:sp>
      <p:sp>
        <p:nvSpPr>
          <p:cNvPr id="141" name="Shape 139"/>
          <p:cNvSpPr/>
          <p:nvPr/>
        </p:nvSpPr>
        <p:spPr>
          <a:xfrm>
            <a:off x="10222992" y="5344668"/>
            <a:ext cx="430582" cy="91440"/>
          </a:xfrm>
          <a:prstGeom prst="rect">
            <a:avLst/>
          </a:prstGeom>
          <a:solidFill>
            <a:srgbClr val="93A1AA"/>
          </a:solidFill>
          <a:ln w="12700">
            <a:solidFill>
              <a:srgbClr val="333333"/>
            </a:solidFill>
            <a:prstDash val="solid"/>
          </a:ln>
        </p:spPr>
      </p:sp>
      <p:sp>
        <p:nvSpPr>
          <p:cNvPr id="142" name="Text 140"/>
          <p:cNvSpPr txBox="1"/>
          <p:nvPr/>
        </p:nvSpPr>
        <p:spPr>
          <a:xfrm>
            <a:off x="11082528" y="5239512"/>
            <a:ext cx="457200" cy="301752"/>
          </a:xfrm>
          <a:prstGeom prst="rect">
            <a:avLst/>
          </a:prstGeom>
          <a:noFill/>
          <a:ln/>
        </p:spPr>
        <p:txBody>
          <a:bodyPr wrap="square" lIns="0" tIns="0" rIns="0" bIns="0" rtlCol="0" anchor="ctr"/>
          <a:lstStyle/>
          <a:p>
            <a:pPr algn="r" indent="0" marL="0">
              <a:buNone/>
            </a:pPr>
            <a:r>
              <a:rPr lang="en-US" sz="950" dirty="0">
                <a:solidFill>
                  <a:srgbClr val="3A4750"/>
                </a:solidFill>
                <a:latin typeface="Calibri" pitchFamily="34" charset="0"/>
                <a:ea typeface="Calibri" pitchFamily="34" charset="-122"/>
                <a:cs typeface="Calibri" pitchFamily="34" charset="-120"/>
              </a:rPr>
              <a:t>1.254</a:t>
            </a:r>
            <a:endParaRPr lang="en-US" sz="950" dirty="0"/>
          </a:p>
        </p:txBody>
      </p:sp>
      <p:sp>
        <p:nvSpPr>
          <p:cNvPr id="143" name="Shape 141"/>
          <p:cNvSpPr/>
          <p:nvPr/>
        </p:nvSpPr>
        <p:spPr>
          <a:xfrm>
            <a:off x="566928" y="5870448"/>
            <a:ext cx="11055096" cy="768096"/>
          </a:xfrm>
          <a:prstGeom prst="roundRect">
            <a:avLst>
              <a:gd name="adj" fmla="val 5952"/>
            </a:avLst>
          </a:prstGeom>
          <a:solidFill>
            <a:srgbClr val="10161C"/>
          </a:solidFill>
          <a:ln w="12700">
            <a:solidFill>
              <a:srgbClr val="10161C"/>
            </a:solidFill>
            <a:prstDash val="solid"/>
          </a:ln>
        </p:spPr>
      </p:sp>
      <p:sp>
        <p:nvSpPr>
          <p:cNvPr id="144" name="Text 142"/>
          <p:cNvSpPr txBox="1"/>
          <p:nvPr/>
        </p:nvSpPr>
        <p:spPr>
          <a:xfrm>
            <a:off x="804672" y="5943600"/>
            <a:ext cx="10579608" cy="621792"/>
          </a:xfrm>
          <a:prstGeom prst="rect">
            <a:avLst/>
          </a:prstGeom>
          <a:noFill/>
          <a:ln/>
        </p:spPr>
        <p:txBody>
          <a:bodyPr wrap="square" lIns="0" tIns="0" rIns="0" bIns="0" rtlCol="0" anchor="ctr"/>
          <a:lstStyle/>
          <a:p>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The third column is the harness. </a:t>
            </a:r>
            <a:pPr indent="0" marL="0">
              <a:lnSpc>
                <a:spcPts val="1400"/>
              </a:lnSpc>
              <a:buNone/>
            </a:pPr>
            <a:r>
              <a:rPr lang="en-US" sz="1050" dirty="0">
                <a:solidFill>
                  <a:srgbClr val="D6E0E4"/>
                </a:solidFill>
                <a:latin typeface="Calibri" pitchFamily="34" charset="0"/>
                <a:ea typeface="Calibri" pitchFamily="34" charset="-122"/>
                <a:cs typeface="Calibri" pitchFamily="34" charset="-120"/>
              </a:rPr>
              <a:t>Eighteen AlgoTuner rows run the benchmark’s own agent at its calibrated n; three amber rows run OpenEvolve’s search, and none of those three states its problem sizes. Read that before the order — the top four and the AlgoTuner field may not be measuring the same problems.  </a:t>
            </a:r>
            <a:pPr indent="0" marL="0">
              <a:lnSpc>
                <a:spcPts val="1400"/>
              </a:lnSpc>
              <a:buNone/>
            </a:pPr>
            <a:r>
              <a:rPr lang="en-US" sz="1050" dirty="0">
                <a:solidFill>
                  <a:srgbClr val="E8C98A"/>
                </a:solidFill>
                <a:latin typeface="Calibri" pitchFamily="34" charset="0"/>
                <a:ea typeface="Calibri" pitchFamily="34" charset="-122"/>
                <a:cs typeface="Calibri" pitchFamily="34" charset="-120"/>
              </a:rPr>
              <a:t>OpenEvolve* is its own published 1.984x (the final of four phases). Its per-task list is a cross-phase discoveries log, so the 2.267x that list averages to is not a score anyone achieved in one configuration.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METRIC, AND A CORRECTION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AlgoTune’s score reproduces exactly</a:t>
            </a:r>
            <a:endParaRPr lang="en-US" sz="3300" dirty="0"/>
          </a:p>
        </p:txBody>
      </p:sp>
      <p:sp>
        <p:nvSpPr>
          <p:cNvPr id="4" name="Text 2"/>
          <p:cNvSpPr txBox="1"/>
          <p:nvPr/>
        </p:nvSpPr>
        <p:spPr>
          <a:xfrm>
            <a:off x="566928" y="1243584"/>
            <a:ext cx="11055096" cy="47548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An earlier version of this deck said their aggregation could not be reproduced. That was wrong, and the rule it missed changes what the numbers mean.</a:t>
            </a:r>
            <a:endParaRPr lang="en-US" sz="1350" dirty="0"/>
          </a:p>
        </p:txBody>
      </p:sp>
      <p:sp>
        <p:nvSpPr>
          <p:cNvPr id="5" name="Shape 3"/>
          <p:cNvSpPr/>
          <p:nvPr/>
        </p:nvSpPr>
        <p:spPr>
          <a:xfrm>
            <a:off x="566928" y="1883664"/>
            <a:ext cx="5486400" cy="1481328"/>
          </a:xfrm>
          <a:prstGeom prst="roundRect">
            <a:avLst>
              <a:gd name="adj" fmla="val 3704"/>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93392"/>
            <a:ext cx="5029200" cy="256032"/>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The rule, from AlgoTune’s own description</a:t>
            </a:r>
            <a:endParaRPr lang="en-US" sz="1200" dirty="0"/>
          </a:p>
        </p:txBody>
      </p:sp>
      <p:sp>
        <p:nvSpPr>
          <p:cNvPr id="7" name="Text 5"/>
          <p:cNvSpPr txBox="1"/>
          <p:nvPr/>
        </p:nvSpPr>
        <p:spPr>
          <a:xfrm>
            <a:off x="804672" y="2304288"/>
            <a:ext cx="5029200" cy="932688"/>
          </a:xfrm>
          <a:prstGeom prst="rect">
            <a:avLst/>
          </a:prstGeom>
          <a:noFill/>
          <a:ln/>
        </p:spPr>
        <p:txBody>
          <a:bodyPr wrap="square" lIns="0" tIns="0" rIns="0" bIns="0" rtlCol="0" anchor="ctr"/>
          <a:lstStyle/>
          <a:p>
            <a:pPr indent="0" marL="0">
              <a:lnSpc>
                <a:spcPts val="1700"/>
              </a:lnSpc>
              <a:buNone/>
            </a:pPr>
            <a:r>
              <a:rPr lang="en-US" sz="1200" dirty="0">
                <a:solidFill>
                  <a:srgbClr val="3A4750"/>
                </a:solidFill>
                <a:latin typeface="Calibri" pitchFamily="34" charset="0"/>
                <a:ea typeface="Calibri" pitchFamily="34" charset="-122"/>
                <a:cs typeface="Calibri" pitchFamily="34" charset="-120"/>
              </a:rPr>
              <a:t>“solutions that yield invalid outputs or that have a speedup of under 1× </a:t>
            </a:r>
            <a:pPr indent="0" marL="0">
              <a:lnSpc>
                <a:spcPts val="1700"/>
              </a:lnSpc>
              <a:buNone/>
            </a:pPr>
            <a:r>
              <a:rPr lang="en-US" sz="1200" b="1" dirty="0">
                <a:solidFill>
                  <a:srgbClr val="10161C"/>
                </a:solidFill>
                <a:latin typeface="Calibri" pitchFamily="34" charset="0"/>
                <a:ea typeface="Calibri" pitchFamily="34" charset="-122"/>
                <a:cs typeface="Calibri" pitchFamily="34" charset="-120"/>
              </a:rPr>
              <a:t>assigned a speedup of 1×</a:t>
            </a:r>
            <a:pPr indent="0" marL="0">
              <a:lnSpc>
                <a:spcPts val="1700"/>
              </a:lnSpc>
              <a:buNone/>
            </a:pPr>
            <a:r>
              <a:rPr lang="en-US" sz="1200" dirty="0">
                <a:solidFill>
                  <a:srgbClr val="3A4750"/>
                </a:solidFill>
                <a:latin typeface="Calibri" pitchFamily="34" charset="0"/>
                <a:ea typeface="Calibri" pitchFamily="34" charset="-122"/>
                <a:cs typeface="Calibri" pitchFamily="34" charset="-120"/>
              </a:rPr>
              <a:t>”, a task with no result also counts 1×, then the </a:t>
            </a:r>
            <a:pPr indent="0" marL="0">
              <a:lnSpc>
                <a:spcPts val="1700"/>
              </a:lnSpc>
              <a:buNone/>
            </a:pPr>
            <a:r>
              <a:rPr lang="en-US" sz="1200" b="1" dirty="0">
                <a:solidFill>
                  <a:srgbClr val="10161C"/>
                </a:solidFill>
                <a:latin typeface="Calibri" pitchFamily="34" charset="0"/>
                <a:ea typeface="Calibri" pitchFamily="34" charset="-122"/>
                <a:cs typeface="Calibri" pitchFamily="34" charset="-120"/>
              </a:rPr>
              <a:t>harmonic mean</a:t>
            </a:r>
            <a:pPr indent="0" marL="0">
              <a:lnSpc>
                <a:spcPts val="1700"/>
              </a:lnSpc>
              <a:buNone/>
            </a:pPr>
            <a:r>
              <a:rPr lang="en-US" sz="1200" dirty="0">
                <a:solidFill>
                  <a:srgbClr val="3A4750"/>
                </a:solidFill>
                <a:latin typeface="Calibri" pitchFamily="34" charset="0"/>
                <a:ea typeface="Calibri" pitchFamily="34" charset="-122"/>
                <a:cs typeface="Calibri" pitchFamily="34" charset="-120"/>
              </a:rPr>
              <a:t> over every task.</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309360" y="1883664"/>
          <a:ext cx="5312664" cy="914400"/>
        </p:xfrm>
        <a:graphic>
          <a:graphicData uri="http://schemas.openxmlformats.org/drawingml/2006/table">
            <a:tbl>
              <a:tblPr/>
              <a:tblGrid>
                <a:gridCol w="2606040"/>
                <a:gridCol w="1298448"/>
                <a:gridCol w="1408176"/>
              </a:tblGrid>
              <a:tr h="28803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published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recomputed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2.05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2.054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gemini-3.1-pro-preview</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2.02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2.016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1.85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1.854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gemini-3-pro-preview</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1.832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claude-opus-4.5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1.766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o4-mini</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1.716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deepseek-reasoner</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1.67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1.669</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gpt-5-pro (medium)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1.307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9" name="Shape 6"/>
          <p:cNvSpPr/>
          <p:nvPr/>
        </p:nvSpPr>
        <p:spPr>
          <a:xfrm>
            <a:off x="566928" y="3529584"/>
            <a:ext cx="11055096" cy="786384"/>
          </a:xfrm>
          <a:prstGeom prst="roundRect">
            <a:avLst>
              <a:gd name="adj" fmla="val 6977"/>
            </a:avLst>
          </a:prstGeom>
          <a:solidFill>
            <a:srgbClr val="EEF1F3"/>
          </a:solidFill>
          <a:ln w="9525">
            <a:solidFill>
              <a:srgbClr val="D7DDE2"/>
            </a:solidFill>
            <a:prstDash val="solid"/>
          </a:ln>
        </p:spPr>
      </p:sp>
      <p:sp>
        <p:nvSpPr>
          <p:cNvPr id="10" name="Text 7"/>
          <p:cNvSpPr txBox="1"/>
          <p:nvPr/>
        </p:nvSpPr>
        <p:spPr>
          <a:xfrm>
            <a:off x="804672" y="3621024"/>
            <a:ext cx="2194560" cy="256032"/>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What it invalidates</a:t>
            </a:r>
            <a:endParaRPr lang="en-US" sz="1150" dirty="0"/>
          </a:p>
        </p:txBody>
      </p:sp>
      <p:sp>
        <p:nvSpPr>
          <p:cNvPr id="11" name="Text 8"/>
          <p:cNvSpPr txBox="1"/>
          <p:nvPr/>
        </p:nvSpPr>
        <p:spPr>
          <a:xfrm>
            <a:off x="3127248" y="3621024"/>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The six models this deck previously showed “below 1.0” — 0.848x down to 0.665x — are at 1.0 under the benchmark’s own rule. Those were raw ratios, which AlgoTune deliberately does not score.</a:t>
            </a:r>
            <a:endParaRPr lang="en-US" sz="1150" dirty="0"/>
          </a:p>
        </p:txBody>
      </p:sp>
      <p:sp>
        <p:nvSpPr>
          <p:cNvPr id="12" name="Shape 9"/>
          <p:cNvSpPr/>
          <p:nvPr/>
        </p:nvSpPr>
        <p:spPr>
          <a:xfrm>
            <a:off x="566928" y="4407408"/>
            <a:ext cx="11055096" cy="786384"/>
          </a:xfrm>
          <a:prstGeom prst="roundRect">
            <a:avLst>
              <a:gd name="adj" fmla="val 6977"/>
            </a:avLst>
          </a:prstGeom>
          <a:solidFill>
            <a:srgbClr val="EEF1F3"/>
          </a:solidFill>
          <a:ln w="9525">
            <a:solidFill>
              <a:srgbClr val="D7DDE2"/>
            </a:solidFill>
            <a:prstDash val="solid"/>
          </a:ln>
        </p:spPr>
      </p:sp>
      <p:sp>
        <p:nvSpPr>
          <p:cNvPr id="13" name="Text 10"/>
          <p:cNvSpPr txBox="1"/>
          <p:nvPr/>
        </p:nvSpPr>
        <p:spPr>
          <a:xfrm>
            <a:off x="804672" y="4498848"/>
            <a:ext cx="2194560" cy="256032"/>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What it repairs</a:t>
            </a:r>
            <a:endParaRPr lang="en-US" sz="1150" dirty="0"/>
          </a:p>
        </p:txBody>
      </p:sp>
      <p:sp>
        <p:nvSpPr>
          <p:cNvPr id="14" name="Text 11"/>
          <p:cNvSpPr txBox="1"/>
          <p:nvPr/>
        </p:nvSpPr>
        <p:spPr>
          <a:xfrm>
            <a:off x="3127248" y="4498848"/>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Nine models were dropped for having no score on some task. A missing task counts 1×, so nothing needs excluding and all eighteen rank on all eight tasks.</a:t>
            </a:r>
            <a:endParaRPr lang="en-US" sz="1150" dirty="0"/>
          </a:p>
        </p:txBody>
      </p:sp>
      <p:sp>
        <p:nvSpPr>
          <p:cNvPr id="15" name="Shape 12"/>
          <p:cNvSpPr/>
          <p:nvPr/>
        </p:nvSpPr>
        <p:spPr>
          <a:xfrm>
            <a:off x="566928" y="5285232"/>
            <a:ext cx="11055096" cy="786384"/>
          </a:xfrm>
          <a:prstGeom prst="roundRect">
            <a:avLst>
              <a:gd name="adj" fmla="val 6977"/>
            </a:avLst>
          </a:prstGeom>
          <a:solidFill>
            <a:srgbClr val="EEF1F3"/>
          </a:solidFill>
          <a:ln w="9525">
            <a:solidFill>
              <a:srgbClr val="D7DDE2"/>
            </a:solidFill>
            <a:prstDash val="solid"/>
          </a:ln>
        </p:spPr>
      </p:sp>
      <p:sp>
        <p:nvSpPr>
          <p:cNvPr id="16" name="Text 13"/>
          <p:cNvSpPr txBox="1"/>
          <p:nvPr/>
        </p:nvSpPr>
        <p:spPr>
          <a:xfrm>
            <a:off x="804672" y="5376672"/>
            <a:ext cx="2194560" cy="256032"/>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What survives</a:t>
            </a:r>
            <a:endParaRPr lang="en-US" sz="1150" dirty="0"/>
          </a:p>
        </p:txBody>
      </p:sp>
      <p:sp>
        <p:nvSpPr>
          <p:cNvPr id="17" name="Text 14"/>
          <p:cNvSpPr txBox="1"/>
          <p:nvPr/>
        </p:nvSpPr>
        <p:spPr>
          <a:xfrm>
            <a:off x="3127248" y="5376672"/>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The underlying observation still holds and is still worth stating: those models did submit solvers slower than the reference, mostly by adding a .tolist() the reference does not do. AlgoTune simply chooses not to punish it.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EVERYTHING ELSE PUBLISHED ON ALGOTUNE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Six sources, and what each one actually is</a:t>
            </a:r>
            <a:endParaRPr lang="en-US" sz="3300" dirty="0"/>
          </a:p>
        </p:txBody>
      </p:sp>
      <p:sp>
        <p:nvSpPr>
          <p:cNvPr id="4" name="Text 2"/>
          <p:cNvSpPr txBox="1"/>
          <p:nvPr/>
        </p:nvSpPr>
        <p:spPr>
          <a:xfrm>
            <a:off x="566928" y="1243584"/>
            <a:ext cx="11055096" cy="47548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Searched arXiv, GitHub, HuggingFace and Epoch AI. DeepMind’s AlphaEvolve is absent from this list because it has never been run on AlgoTune and is not publicly available.</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883664"/>
          <a:ext cx="11055096" cy="914400"/>
        </p:xfrm>
        <a:graphic>
          <a:graphicData uri="http://schemas.openxmlformats.org/drawingml/2006/table">
            <a:tbl>
              <a:tblPr/>
              <a:tblGrid>
                <a:gridCol w="2148840"/>
                <a:gridCol w="2487168"/>
                <a:gridCol w="2212848"/>
                <a:gridCol w="2889504"/>
                <a:gridCol w="1316736"/>
              </a:tblGrid>
              <a:tr h="27432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What it reports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AlgoTune leaderboard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AlgoTuner (the benchmark’s 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18 models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154 tasks, calibrated 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reports/agent_summary.json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MetaEvolve + baseline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OpenEvolve’s search</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Qwen3-14B, ± RL</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8 tasks, sizes not stated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arXiv:2607.21971</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OpenEvolve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gemini-2.5-flash + 2.5-pro</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8 tasks, data_size far below calibrated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 repo</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65836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Dria, “Towards Open</a:t>
                      </a:r>
                      <a:endParaRPr lang="en-US" sz="950" dirty="0">
                        <a:latin typeface="Calibri" charset="0"/>
                        <a:ea typeface="Calibri" charset="0"/>
                        <a:cs typeface="Calibri" charset="0"/>
                      </a:endParaRPr>
                    </a:p>
                    <a:p>
                      <a:pPr algn="l" indent="0" marL="0">
                        <a:buNone/>
                      </a:pPr>
                      <a:r>
                        <a:rPr lang="en-US" sz="950" b="1" dirty="0">
                          <a:solidFill>
                            <a:srgbClr val="3A4750"/>
                          </a:solidFill>
                          <a:latin typeface="Calibri" pitchFamily="34" charset="0"/>
                          <a:ea typeface="Calibri" pitchFamily="34" charset="-122"/>
                          <a:cs typeface="Calibri" pitchFamily="34" charset="-120"/>
                        </a:rPr>
                        <a:t>Evolutionary Agents”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 via algotune_to_openevolve.py</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 Flash 2.5 2.04x</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Gemma 3 27B 1.63x</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Qwen3-Coder 480B 1.41x</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30 tasks, sizes not stated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HuggingFace, Aug 2025</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EvoMem</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 3 Flash</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aggregate only: 8.58x mean, 16.33x max</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arXiv:2608.10795</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Epoch AI</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none — mirrors the AlgoTune leaderboard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no independent runs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epoch.ai/benchmarks/algotune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175504"/>
            <a:ext cx="11055096" cy="1005840"/>
          </a:xfrm>
          <a:prstGeom prst="roundRect">
            <a:avLst>
              <a:gd name="adj" fmla="val 4545"/>
            </a:avLst>
          </a:prstGeom>
          <a:solidFill>
            <a:srgbClr val="10161C"/>
          </a:solidFill>
          <a:ln w="12700">
            <a:solidFill>
              <a:srgbClr val="10161C"/>
            </a:solidFill>
            <a:prstDash val="solid"/>
          </a:ln>
        </p:spPr>
      </p:sp>
      <p:sp>
        <p:nvSpPr>
          <p:cNvPr id="7" name="Text 4"/>
          <p:cNvSpPr txBox="1"/>
          <p:nvPr/>
        </p:nvSpPr>
        <p:spPr>
          <a:xfrm>
            <a:off x="804672" y="5266944"/>
            <a:ext cx="10579608" cy="822960"/>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Four of the six run OpenEvolve’s converter or its search, and not one of those four states a problem size. Only the AlgoTune leaderboard is known to sit at the calibrated n — which is why this deck’s comparison against those eighteen models is the one it puts weight on, and the three OpenEvolve-derived rows the ones it flags.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PER TASK</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All eight, nothing selected</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Both our seeds shown. The last two columns are the spread across AlgoTune’s own 14–18 models at the same n.</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11055096" cy="914400"/>
        </p:xfrm>
        <a:graphic>
          <a:graphicData uri="http://schemas.openxmlformats.org/drawingml/2006/table">
            <a:tbl>
              <a:tblPr/>
              <a:tblGrid>
                <a:gridCol w="2487168"/>
                <a:gridCol w="868680"/>
                <a:gridCol w="932688"/>
                <a:gridCol w="932688"/>
                <a:gridCol w="868680"/>
                <a:gridCol w="868680"/>
                <a:gridCol w="914400"/>
                <a:gridCol w="1243584"/>
                <a:gridCol w="1938528"/>
              </a:tblGrid>
              <a:tr h="31546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Task</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no RL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Meta</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Open</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max</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median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polynomial_real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544.454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137.005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321.01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138.469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lu_factorization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7.139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1.311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35.313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affine_transform_2d</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0.978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1.072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6.945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eigenvectors_complex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1.432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1.474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fft_convolution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542069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1.346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0.421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psd_cone_projection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5.883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5.520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1.795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8.728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fft_cmplx_scipy_fftpack</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4.759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4.434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1.558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4.464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2.324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convolve2d_full_fill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115.835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100.721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291.338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78.128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256.15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205.513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144.938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harmonic mean, raw</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2.285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1.984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154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AlgoTune score (clipped)</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2.290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2.268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1.984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bl>
          </a:graphicData>
        </a:graphic>
      </p:graphicFrame>
      <p:sp>
        <p:nvSpPr>
          <p:cNvPr id="6" name="Text 3"/>
          <p:cNvSpPr txBox="1"/>
          <p:nvPr/>
        </p:nvSpPr>
        <p:spPr>
          <a:xfrm>
            <a:off x="566928" y="5888736"/>
            <a:ext cx="11055096" cy="310896"/>
          </a:xfrm>
          <a:prstGeom prst="rect">
            <a:avLst/>
          </a:prstGeom>
          <a:noFill/>
          <a:ln/>
        </p:spPr>
        <p:txBody>
          <a:bodyPr wrap="square" lIns="0" tIns="0" rIns="0" bIns="0" rtlCol="0" anchor="ctr"/>
          <a:lstStyle/>
          <a:p>
            <a:pPr indent="0" marL="0">
              <a:lnSpc>
                <a:spcPts val="1200"/>
              </a:lnSpc>
              <a:buNone/>
            </a:pPr>
            <a:r>
              <a:rPr lang="en-US" sz="950" dirty="0">
                <a:solidFill>
                  <a:srgbClr val="C2872B"/>
                </a:solidFill>
                <a:latin typeface="Calibri" pitchFamily="34" charset="0"/>
                <a:ea typeface="Calibri" pitchFamily="34" charset="-122"/>
                <a:cs typeface="Calibri" pitchFamily="34" charset="-120"/>
              </a:rPr>
              <a:t>amber = above the best of all 14–18 AlgoTune models at this n.  “Clipped” is AlgoTune’s own rule: anything under 1.0 counts as 1.0.  The OpenEvolve column is that project’s cross-phase discoveries log rather than one run, so its per-task cells and its published 1.984x score do not come from the same configuration.</a:t>
            </a:r>
            <a:endParaRPr lang="en-US" sz="950" dirty="0"/>
          </a:p>
        </p:txBody>
      </p:sp>
      <p:sp>
        <p:nvSpPr>
          <p:cNvPr id="7" name="Text 4"/>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Max and median use every model with a result on that task. The nine with no score on at least one of the eight — claude-opus-4, 4.5 and 4.6, sonnet-4.5, gemini-2.5-pro, gemini-3-pro, gemini-3.1-pro, gpt-oss-120b, qwen3-coder — still have solver files upstream; only the score is missing, and they include the newest models on the board. AlgoTune publishes no GLM-5 result at all.</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THE BUDGET BOUGHT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Not a better score — a repeatable one</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Going from 45 to 99 rollouts moved the level 4%. It moved the variance by a factor of forty.</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5806440" cy="914400"/>
        </p:xfrm>
        <a:graphic>
          <a:graphicData uri="http://schemas.openxmlformats.org/drawingml/2006/table">
            <a:tbl>
              <a:tblPr/>
              <a:tblGrid>
                <a:gridCol w="2788920"/>
                <a:gridCol w="1508760"/>
                <a:gridCol w="1508760"/>
              </a:tblGrid>
              <a:tr h="420624">
                <a:tc>
                  <a:txBody>
                    <a:bodyPr/>
                    <a:lstStyle/>
                    <a:p>
                      <a:pPr algn="ct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45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99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median</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1.38x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1.02x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worst</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180.11x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3.97x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0</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3.645x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2.285x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1</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2.213x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2.254x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gap between the seeds</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Shape 3"/>
          <p:cNvSpPr/>
          <p:nvPr/>
        </p:nvSpPr>
        <p:spPr>
          <a:xfrm>
            <a:off x="6720840" y="1874520"/>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7" name="Text 4"/>
          <p:cNvSpPr txBox="1"/>
          <p:nvPr/>
        </p:nvSpPr>
        <p:spPr>
          <a:xfrm>
            <a:off x="6949440" y="1984248"/>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8" name="Text 5"/>
          <p:cNvSpPr txBox="1"/>
          <p:nvPr/>
        </p:nvSpPr>
        <p:spPr>
          <a:xfrm>
            <a:off x="6949440" y="227685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540.172 / 2.999</a:t>
            </a:r>
            <a:endParaRPr lang="en-US" sz="1100" dirty="0"/>
          </a:p>
        </p:txBody>
      </p:sp>
      <p:sp>
        <p:nvSpPr>
          <p:cNvPr id="9" name="Text 6"/>
          <p:cNvSpPr txBox="1"/>
          <p:nvPr/>
        </p:nvSpPr>
        <p:spPr>
          <a:xfrm>
            <a:off x="6949440" y="255117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544.454 / 137.005</a:t>
            </a:r>
            <a:endParaRPr lang="en-US" sz="1100" dirty="0"/>
          </a:p>
        </p:txBody>
      </p:sp>
      <p:sp>
        <p:nvSpPr>
          <p:cNvPr id="10" name="Shape 7"/>
          <p:cNvSpPr/>
          <p:nvPr/>
        </p:nvSpPr>
        <p:spPr>
          <a:xfrm>
            <a:off x="6720840" y="3081528"/>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8"/>
          <p:cNvSpPr txBox="1"/>
          <p:nvPr/>
        </p:nvSpPr>
        <p:spPr>
          <a:xfrm>
            <a:off x="6949440" y="3191256"/>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12" name="Text 9"/>
          <p:cNvSpPr txBox="1"/>
          <p:nvPr/>
        </p:nvSpPr>
        <p:spPr>
          <a:xfrm>
            <a:off x="6949440" y="348386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4.464 / 0.957</a:t>
            </a:r>
            <a:endParaRPr lang="en-US" sz="1100" dirty="0"/>
          </a:p>
        </p:txBody>
      </p:sp>
      <p:sp>
        <p:nvSpPr>
          <p:cNvPr id="13" name="Text 10"/>
          <p:cNvSpPr txBox="1"/>
          <p:nvPr/>
        </p:nvSpPr>
        <p:spPr>
          <a:xfrm>
            <a:off x="6949440" y="375818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7.000 / 7.139</a:t>
            </a:r>
            <a:endParaRPr lang="en-US" sz="1100" dirty="0"/>
          </a:p>
        </p:txBody>
      </p:sp>
      <p:sp>
        <p:nvSpPr>
          <p:cNvPr id="14" name="Shape 11"/>
          <p:cNvSpPr/>
          <p:nvPr/>
        </p:nvSpPr>
        <p:spPr>
          <a:xfrm>
            <a:off x="6720840" y="4315968"/>
            <a:ext cx="4901184" cy="1463040"/>
          </a:xfrm>
          <a:prstGeom prst="roundRect">
            <a:avLst>
              <a:gd name="adj" fmla="val 3750"/>
            </a:avLst>
          </a:prstGeom>
          <a:solidFill>
            <a:srgbClr val="10161C"/>
          </a:solidFill>
          <a:ln w="12700">
            <a:solidFill>
              <a:srgbClr val="10161C"/>
            </a:solidFill>
            <a:prstDash val="solid"/>
          </a:ln>
        </p:spPr>
      </p:sp>
      <p:sp>
        <p:nvSpPr>
          <p:cNvPr id="15" name="Text 12"/>
          <p:cNvSpPr txBox="1"/>
          <p:nvPr/>
        </p:nvSpPr>
        <p:spPr>
          <a:xfrm>
            <a:off x="6967728" y="4480560"/>
            <a:ext cx="4407408" cy="1152144"/>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At 45 rollouts the same configuration returned 3.645x on one seed and 2.213x on another. That was a draw, not a measurement. Two tasks were coin flips on whether the search found the direction at all; at 99 it finds them every time.</a:t>
            </a:r>
            <a:endParaRPr lang="en-US" sz="1200" dirty="0"/>
          </a:p>
        </p:txBody>
      </p:sp>
      <p:sp>
        <p:nvSpPr>
          <p:cNvPr id="16" name="Text 1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Same configuration throughout; only --iterations and the staleness policy changed.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FINDING</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Half the comparison is not the same problem</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AlgoTune’s own 14–18 models, at the calibrated n, bracket what is achievable. Three systems fall outside the bracket — in both directions.</a:t>
            </a:r>
            <a:endParaRPr lang="en-US" sz="1350" dirty="0"/>
          </a:p>
        </p:txBody>
      </p:sp>
      <p:sp>
        <p:nvSpPr>
          <p:cNvPr id="5" name="Text 3"/>
          <p:cNvSpPr txBox="1"/>
          <p:nvPr/>
        </p:nvSpPr>
        <p:spPr>
          <a:xfrm>
            <a:off x="566928" y="1847088"/>
            <a:ext cx="5394960" cy="274320"/>
          </a:xfrm>
          <a:prstGeom prst="rect">
            <a:avLst/>
          </a:prstGeom>
          <a:noFill/>
          <a:ln/>
        </p:spPr>
        <p:txBody>
          <a:bodyPr wrap="square" lIns="0" tIns="0" rIns="0" bIns="0" rtlCol="0" anchor="ctr"/>
          <a:lstStyle/>
          <a:p>
            <a:pPr indent="0" marL="0">
              <a:buNone/>
            </a:pPr>
            <a:r>
              <a:rPr lang="en-US" sz="1250" b="1" spc="60" kern="0" dirty="0">
                <a:solidFill>
                  <a:srgbClr val="C2872B"/>
                </a:solidFill>
                <a:latin typeface="Calibri" pitchFamily="34" charset="0"/>
                <a:ea typeface="Calibri" pitchFamily="34" charset="-122"/>
                <a:cs typeface="Calibri" pitchFamily="34" charset="-120"/>
              </a:rPr>
              <a:t>Above the best of every AlgoTune model</a:t>
            </a:r>
            <a:endParaRPr lang="en-US" sz="1250" dirty="0"/>
          </a:p>
        </p:txBody>
      </p:sp>
      <p:sp>
        <p:nvSpPr>
          <p:cNvPr id="6" name="Shape 4"/>
          <p:cNvSpPr/>
          <p:nvPr/>
        </p:nvSpPr>
        <p:spPr>
          <a:xfrm>
            <a:off x="566928" y="2231136"/>
            <a:ext cx="5394960" cy="841248"/>
          </a:xfrm>
          <a:prstGeom prst="roundRect">
            <a:avLst>
              <a:gd name="adj" fmla="val 6522"/>
            </a:avLst>
          </a:prstGeom>
          <a:solidFill>
            <a:srgbClr val="EEF1F3"/>
          </a:solidFill>
          <a:ln w="9525">
            <a:solidFill>
              <a:srgbClr val="D7DDE2"/>
            </a:solidFill>
            <a:prstDash val="solid"/>
          </a:ln>
        </p:spPr>
      </p:sp>
      <p:sp>
        <p:nvSpPr>
          <p:cNvPr id="7" name="Text 5"/>
          <p:cNvSpPr txBox="1"/>
          <p:nvPr/>
        </p:nvSpPr>
        <p:spPr>
          <a:xfrm>
            <a:off x="78638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8" name="Text 6"/>
          <p:cNvSpPr txBox="1"/>
          <p:nvPr/>
        </p:nvSpPr>
        <p:spPr>
          <a:xfrm>
            <a:off x="78638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1.039x over 18 models</a:t>
            </a:r>
            <a:endParaRPr lang="en-US" sz="1050" dirty="0"/>
          </a:p>
        </p:txBody>
      </p:sp>
      <p:sp>
        <p:nvSpPr>
          <p:cNvPr id="9" name="Text 7"/>
          <p:cNvSpPr txBox="1"/>
          <p:nvPr/>
        </p:nvSpPr>
        <p:spPr>
          <a:xfrm>
            <a:off x="786384" y="2779776"/>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no-RL 1.432 · MetaEvolve 1.474 · OpenEvolve 1.48</a:t>
            </a:r>
            <a:endParaRPr lang="en-US" sz="1050" dirty="0"/>
          </a:p>
        </p:txBody>
      </p:sp>
      <p:sp>
        <p:nvSpPr>
          <p:cNvPr id="10" name="Shape 8"/>
          <p:cNvSpPr/>
          <p:nvPr/>
        </p:nvSpPr>
        <p:spPr>
          <a:xfrm>
            <a:off x="566928" y="3200400"/>
            <a:ext cx="5394960" cy="841248"/>
          </a:xfrm>
          <a:prstGeom prst="roundRect">
            <a:avLst>
              <a:gd name="adj" fmla="val 6522"/>
            </a:avLst>
          </a:prstGeom>
          <a:solidFill>
            <a:srgbClr val="EEF1F3"/>
          </a:solidFill>
          <a:ln w="9525">
            <a:solidFill>
              <a:srgbClr val="D7DDE2"/>
            </a:solidFill>
            <a:prstDash val="solid"/>
          </a:ln>
        </p:spPr>
      </p:sp>
      <p:sp>
        <p:nvSpPr>
          <p:cNvPr id="11" name="Text 9"/>
          <p:cNvSpPr txBox="1"/>
          <p:nvPr/>
        </p:nvSpPr>
        <p:spPr>
          <a:xfrm>
            <a:off x="78638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12" name="Text 10"/>
          <p:cNvSpPr txBox="1"/>
          <p:nvPr/>
        </p:nvSpPr>
        <p:spPr>
          <a:xfrm>
            <a:off x="78638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1.015x over 14 models</a:t>
            </a:r>
            <a:endParaRPr lang="en-US" sz="1050" dirty="0"/>
          </a:p>
        </p:txBody>
      </p:sp>
      <p:sp>
        <p:nvSpPr>
          <p:cNvPr id="13" name="Text 11"/>
          <p:cNvSpPr txBox="1"/>
          <p:nvPr/>
        </p:nvSpPr>
        <p:spPr>
          <a:xfrm>
            <a:off x="786384" y="3749040"/>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MetaEvolve 6.945 · OpenEvolve 3.22</a:t>
            </a:r>
            <a:endParaRPr lang="en-US" sz="1050" dirty="0"/>
          </a:p>
        </p:txBody>
      </p:sp>
      <p:sp>
        <p:nvSpPr>
          <p:cNvPr id="14" name="Shape 12"/>
          <p:cNvSpPr/>
          <p:nvPr/>
        </p:nvSpPr>
        <p:spPr>
          <a:xfrm>
            <a:off x="566928" y="4169664"/>
            <a:ext cx="5394960" cy="841248"/>
          </a:xfrm>
          <a:prstGeom prst="roundRect">
            <a:avLst>
              <a:gd name="adj" fmla="val 6522"/>
            </a:avLst>
          </a:prstGeom>
          <a:solidFill>
            <a:srgbClr val="EEF1F3"/>
          </a:solidFill>
          <a:ln w="9525">
            <a:solidFill>
              <a:srgbClr val="D7DDE2"/>
            </a:solidFill>
            <a:prstDash val="solid"/>
          </a:ln>
        </p:spPr>
      </p:sp>
      <p:sp>
        <p:nvSpPr>
          <p:cNvPr id="15" name="Text 13"/>
          <p:cNvSpPr txBox="1"/>
          <p:nvPr/>
        </p:nvSpPr>
        <p:spPr>
          <a:xfrm>
            <a:off x="786384" y="4261104"/>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16" name="Text 14"/>
          <p:cNvSpPr txBox="1"/>
          <p:nvPr/>
        </p:nvSpPr>
        <p:spPr>
          <a:xfrm>
            <a:off x="786384" y="4498848"/>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1.021x over 15 models</a:t>
            </a:r>
            <a:endParaRPr lang="en-US" sz="1050" dirty="0"/>
          </a:p>
        </p:txBody>
      </p:sp>
      <p:sp>
        <p:nvSpPr>
          <p:cNvPr id="17" name="Text 15"/>
          <p:cNvSpPr txBox="1"/>
          <p:nvPr/>
        </p:nvSpPr>
        <p:spPr>
          <a:xfrm>
            <a:off x="786384" y="4718304"/>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MetaEvolve 1.346 · OpenEvolve 1.38</a:t>
            </a:r>
            <a:endParaRPr lang="en-US" sz="1050" dirty="0"/>
          </a:p>
        </p:txBody>
      </p:sp>
      <p:sp>
        <p:nvSpPr>
          <p:cNvPr id="18" name="Text 16"/>
          <p:cNvSpPr txBox="1"/>
          <p:nvPr/>
        </p:nvSpPr>
        <p:spPr>
          <a:xfrm>
            <a:off x="6190488" y="1847088"/>
            <a:ext cx="5394960" cy="274320"/>
          </a:xfrm>
          <a:prstGeom prst="rect">
            <a:avLst/>
          </a:prstGeom>
          <a:noFill/>
          <a:ln/>
        </p:spPr>
        <p:txBody>
          <a:bodyPr wrap="square" lIns="0" tIns="0" rIns="0" bIns="0" rtlCol="0" anchor="ctr"/>
          <a:lstStyle/>
          <a:p>
            <a:pPr indent="0" marL="0">
              <a:buNone/>
            </a:pPr>
            <a:r>
              <a:rPr lang="en-US" sz="1250" b="1" spc="60" kern="0" dirty="0">
                <a:solidFill>
                  <a:srgbClr val="93A1AA"/>
                </a:solidFill>
                <a:latin typeface="Calibri" pitchFamily="34" charset="0"/>
                <a:ea typeface="Calibri" pitchFamily="34" charset="-122"/>
                <a:cs typeface="Calibri" pitchFamily="34" charset="-120"/>
              </a:rPr>
              <a:t>Below AlgoTune’s median</a:t>
            </a:r>
            <a:endParaRPr lang="en-US" sz="1250" dirty="0"/>
          </a:p>
        </p:txBody>
      </p:sp>
      <p:sp>
        <p:nvSpPr>
          <p:cNvPr id="19" name="Shape 17"/>
          <p:cNvSpPr/>
          <p:nvPr/>
        </p:nvSpPr>
        <p:spPr>
          <a:xfrm>
            <a:off x="6190488" y="2231136"/>
            <a:ext cx="5394960" cy="841248"/>
          </a:xfrm>
          <a:prstGeom prst="roundRect">
            <a:avLst>
              <a:gd name="adj" fmla="val 6522"/>
            </a:avLst>
          </a:prstGeom>
          <a:solidFill>
            <a:srgbClr val="EEF1F3"/>
          </a:solidFill>
          <a:ln w="9525">
            <a:solidFill>
              <a:srgbClr val="D7DDE2"/>
            </a:solidFill>
            <a:prstDash val="solid"/>
          </a:ln>
        </p:spPr>
      </p:sp>
      <p:sp>
        <p:nvSpPr>
          <p:cNvPr id="20" name="Text 18"/>
          <p:cNvSpPr txBox="1"/>
          <p:nvPr/>
        </p:nvSpPr>
        <p:spPr>
          <a:xfrm>
            <a:off x="640994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21" name="Text 19"/>
          <p:cNvSpPr txBox="1"/>
          <p:nvPr/>
        </p:nvSpPr>
        <p:spPr>
          <a:xfrm>
            <a:off x="640994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8.728x over 18 models</a:t>
            </a:r>
            <a:endParaRPr lang="en-US" sz="1050" dirty="0"/>
          </a:p>
        </p:txBody>
      </p:sp>
      <p:sp>
        <p:nvSpPr>
          <p:cNvPr id="22" name="Text 20"/>
          <p:cNvSpPr txBox="1"/>
          <p:nvPr/>
        </p:nvSpPr>
        <p:spPr>
          <a:xfrm>
            <a:off x="6409944" y="2779776"/>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no-RL 1.795 · MetaEvolve 1.914 · OpenEvolve 1.94</a:t>
            </a:r>
            <a:endParaRPr lang="en-US" sz="1050" dirty="0"/>
          </a:p>
        </p:txBody>
      </p:sp>
      <p:sp>
        <p:nvSpPr>
          <p:cNvPr id="23" name="Shape 21"/>
          <p:cNvSpPr/>
          <p:nvPr/>
        </p:nvSpPr>
        <p:spPr>
          <a:xfrm>
            <a:off x="6190488" y="3200400"/>
            <a:ext cx="5394960" cy="841248"/>
          </a:xfrm>
          <a:prstGeom prst="roundRect">
            <a:avLst>
              <a:gd name="adj" fmla="val 6522"/>
            </a:avLst>
          </a:prstGeom>
          <a:solidFill>
            <a:srgbClr val="EEF1F3"/>
          </a:solidFill>
          <a:ln w="9525">
            <a:solidFill>
              <a:srgbClr val="D7DDE2"/>
            </a:solidFill>
            <a:prstDash val="solid"/>
          </a:ln>
        </p:spPr>
      </p:sp>
      <p:sp>
        <p:nvSpPr>
          <p:cNvPr id="24" name="Text 22"/>
          <p:cNvSpPr txBox="1"/>
          <p:nvPr/>
        </p:nvSpPr>
        <p:spPr>
          <a:xfrm>
            <a:off x="640994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5" name="Text 23"/>
          <p:cNvSpPr txBox="1"/>
          <p:nvPr/>
        </p:nvSpPr>
        <p:spPr>
          <a:xfrm>
            <a:off x="640994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144.938x over 18 models</a:t>
            </a:r>
            <a:endParaRPr lang="en-US" sz="1050" dirty="0"/>
          </a:p>
        </p:txBody>
      </p:sp>
      <p:sp>
        <p:nvSpPr>
          <p:cNvPr id="26" name="Text 24"/>
          <p:cNvSpPr txBox="1"/>
          <p:nvPr/>
        </p:nvSpPr>
        <p:spPr>
          <a:xfrm>
            <a:off x="6409944" y="3749040"/>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MetaEvolve 78.128</a:t>
            </a:r>
            <a:endParaRPr lang="en-US" sz="1050" dirty="0"/>
          </a:p>
        </p:txBody>
      </p:sp>
      <p:sp>
        <p:nvSpPr>
          <p:cNvPr id="27" name="Shape 25"/>
          <p:cNvSpPr/>
          <p:nvPr/>
        </p:nvSpPr>
        <p:spPr>
          <a:xfrm>
            <a:off x="566928" y="5175504"/>
            <a:ext cx="11055096" cy="969264"/>
          </a:xfrm>
          <a:prstGeom prst="roundRect">
            <a:avLst>
              <a:gd name="adj" fmla="val 5660"/>
            </a:avLst>
          </a:prstGeom>
          <a:solidFill>
            <a:srgbClr val="10161C"/>
          </a:solidFill>
          <a:ln w="12700">
            <a:solidFill>
              <a:srgbClr val="10161C"/>
            </a:solidFill>
            <a:prstDash val="solid"/>
          </a:ln>
        </p:spPr>
      </p:sp>
      <p:sp>
        <p:nvSpPr>
          <p:cNvPr id="28" name="Text 26"/>
          <p:cNvSpPr txBox="1"/>
          <p:nvPr/>
        </p:nvSpPr>
        <p:spPr>
          <a:xfrm>
            <a:off x="822960" y="5321808"/>
            <a:ext cx="10543032" cy="694944"/>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That two-sided pattern is the signature of a smaller problem, not a better search. Shrink n and the tasks whose only headroom is Python overhead become winnable; the tasks whose win is genuinely algorithmic at scale lose theirs. All three columns run OpenEvolve’s search, and three of the eight agree with OpenEvolve’s own numbers to within 2.5%.</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PROOF CASE  ·  EIGENVECTORS_COMPLEX</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ceiling at n = 463 is 1.103x</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task, taken apart, because it is the one where all three published numbers exceed what any model achieves.</a:t>
            </a:r>
            <a:endParaRPr lang="en-US" sz="1350" dirty="0"/>
          </a:p>
        </p:txBody>
      </p:sp>
      <p:sp>
        <p:nvSpPr>
          <p:cNvPr id="5" name="Shape 3"/>
          <p:cNvSpPr/>
          <p:nvPr/>
        </p:nvSpPr>
        <p:spPr>
          <a:xfrm>
            <a:off x="566928" y="1810512"/>
            <a:ext cx="5486400"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38528"/>
            <a:ext cx="502920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Where the reference’s 123.20 ms goes</a:t>
            </a:r>
            <a:endParaRPr lang="en-US" sz="1200" dirty="0"/>
          </a:p>
        </p:txBody>
      </p:sp>
      <p:sp>
        <p:nvSpPr>
          <p:cNvPr id="7" name="Text 5"/>
          <p:cNvSpPr txBox="1"/>
          <p:nvPr/>
        </p:nvSpPr>
        <p:spPr>
          <a:xfrm>
            <a:off x="804672" y="2304288"/>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np.linalg.eig — which every valid answer must call</a:t>
            </a:r>
            <a:endParaRPr lang="en-US" sz="1100" dirty="0"/>
          </a:p>
        </p:txBody>
      </p:sp>
      <p:sp>
        <p:nvSpPr>
          <p:cNvPr id="8" name="Text 6"/>
          <p:cNvSpPr txBox="1"/>
          <p:nvPr/>
        </p:nvSpPr>
        <p:spPr>
          <a:xfrm>
            <a:off x="4407408" y="2304288"/>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111.71 ms</a:t>
            </a:r>
            <a:endParaRPr lang="en-US" sz="1100" dirty="0"/>
          </a:p>
        </p:txBody>
      </p:sp>
      <p:sp>
        <p:nvSpPr>
          <p:cNvPr id="9" name="Text 7"/>
          <p:cNvSpPr txBox="1"/>
          <p:nvPr/>
        </p:nvSpPr>
        <p:spPr>
          <a:xfrm>
            <a:off x="5321808" y="2304288"/>
            <a:ext cx="502920" cy="274320"/>
          </a:xfrm>
          <a:prstGeom prst="rect">
            <a:avLst/>
          </a:prstGeom>
          <a:noFill/>
          <a:ln/>
        </p:spPr>
        <p:txBody>
          <a:bodyPr wrap="square" lIns="0" tIns="0" rIns="0" bIns="0" rtlCol="0" anchor="ctr"/>
          <a:lstStyle/>
          <a:p>
            <a:pPr algn="r" indent="0" marL="0">
              <a:buNone/>
            </a:pPr>
            <a:r>
              <a:rPr lang="en-US" sz="1100" b="1" dirty="0">
                <a:solidFill>
                  <a:srgbClr val="0E7C66"/>
                </a:solidFill>
                <a:latin typeface="Calibri" pitchFamily="34" charset="0"/>
                <a:ea typeface="Calibri" pitchFamily="34" charset="-122"/>
                <a:cs typeface="Calibri" pitchFamily="34" charset="-120"/>
              </a:rPr>
              <a:t>93%</a:t>
            </a:r>
            <a:endParaRPr lang="en-US" sz="1100" dirty="0"/>
          </a:p>
        </p:txBody>
      </p:sp>
      <p:sp>
        <p:nvSpPr>
          <p:cNvPr id="10" name="Text 8"/>
          <p:cNvSpPr txBox="1"/>
          <p:nvPr/>
        </p:nvSpPr>
        <p:spPr>
          <a:xfrm>
            <a:off x="804672" y="2706624"/>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the sort, the normalise, the .tolist()</a:t>
            </a:r>
            <a:endParaRPr lang="en-US" sz="1100" dirty="0"/>
          </a:p>
        </p:txBody>
      </p:sp>
      <p:sp>
        <p:nvSpPr>
          <p:cNvPr id="11" name="Text 9"/>
          <p:cNvSpPr txBox="1"/>
          <p:nvPr/>
        </p:nvSpPr>
        <p:spPr>
          <a:xfrm>
            <a:off x="4407408" y="2706624"/>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11.5 ms</a:t>
            </a:r>
            <a:endParaRPr lang="en-US" sz="1100" dirty="0"/>
          </a:p>
        </p:txBody>
      </p:sp>
      <p:sp>
        <p:nvSpPr>
          <p:cNvPr id="12" name="Text 10"/>
          <p:cNvSpPr txBox="1"/>
          <p:nvPr/>
        </p:nvSpPr>
        <p:spPr>
          <a:xfrm>
            <a:off x="5321808" y="2706624"/>
            <a:ext cx="502920" cy="274320"/>
          </a:xfrm>
          <a:prstGeom prst="rect">
            <a:avLst/>
          </a:prstGeom>
          <a:noFill/>
          <a:ln/>
        </p:spPr>
        <p:txBody>
          <a:bodyPr wrap="square" lIns="0" tIns="0" rIns="0" bIns="0" rtlCol="0" anchor="ctr"/>
          <a:lstStyle/>
          <a:p>
            <a:pPr algn="r" indent="0" marL="0">
              <a:buNone/>
            </a:pPr>
            <a:r>
              <a:rPr lang="en-US" sz="1100" b="1" dirty="0">
                <a:solidFill>
                  <a:srgbClr val="93A1AA"/>
                </a:solidFill>
                <a:latin typeface="Calibri" pitchFamily="34" charset="0"/>
                <a:ea typeface="Calibri" pitchFamily="34" charset="-122"/>
                <a:cs typeface="Calibri" pitchFamily="34" charset="-120"/>
              </a:rPr>
              <a:t>7%</a:t>
            </a:r>
            <a:endParaRPr lang="en-US" sz="1100" dirty="0"/>
          </a:p>
        </p:txBody>
      </p:sp>
      <p:sp>
        <p:nvSpPr>
          <p:cNvPr id="13" name="Text 11"/>
          <p:cNvSpPr txBox="1"/>
          <p:nvPr/>
        </p:nvSpPr>
        <p:spPr>
          <a:xfrm>
            <a:off x="804672" y="3108960"/>
            <a:ext cx="5029200" cy="512064"/>
          </a:xfrm>
          <a:prstGeom prst="rect">
            <a:avLst/>
          </a:prstGeom>
          <a:noFill/>
          <a:ln/>
        </p:spPr>
        <p:txBody>
          <a:bodyPr wrap="square" lIns="0" tIns="0" rIns="0" bIns="0" rtlCol="0" anchor="ctr"/>
          <a:lstStyle/>
          <a:p>
            <a:pPr indent="0" marL="0">
              <a:lnSpc>
                <a:spcPts val="1500"/>
              </a:lnSpc>
              <a:buNone/>
            </a:pPr>
            <a:r>
              <a:rPr lang="en-US" sz="1100" dirty="0">
                <a:solidFill>
                  <a:srgbClr val="10161C"/>
                </a:solidFill>
                <a:latin typeface="Calibri" pitchFamily="34" charset="0"/>
                <a:ea typeface="Calibri" pitchFamily="34" charset="-122"/>
                <a:cs typeface="Calibri" pitchFamily="34" charset="-120"/>
              </a:rPr>
              <a:t>Ceiling 1.103x — and .tolist() is not optional: is_solution rejects an ndarray. Best valid program: 1.053x. This port: 1.039x.</a:t>
            </a:r>
            <a:endParaRPr lang="en-US" sz="1100" dirty="0"/>
          </a:p>
        </p:txBody>
      </p:sp>
      <p:sp>
        <p:nvSpPr>
          <p:cNvPr id="14" name="Shape 12"/>
          <p:cNvSpPr/>
          <p:nvPr/>
        </p:nvSpPr>
        <p:spPr>
          <a:xfrm>
            <a:off x="6309360" y="1810512"/>
            <a:ext cx="5312664"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547104" y="1938528"/>
            <a:ext cx="484632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Two escapes, both closed</a:t>
            </a:r>
            <a:endParaRPr lang="en-US" sz="1200" dirty="0"/>
          </a:p>
        </p:txBody>
      </p:sp>
      <p:sp>
        <p:nvSpPr>
          <p:cNvPr id="16" name="Text 14"/>
          <p:cNvSpPr txBox="1"/>
          <p:nvPr/>
        </p:nvSpPr>
        <p:spPr>
          <a:xfrm>
            <a:off x="6547104" y="2286000"/>
            <a:ext cx="4846320" cy="1298448"/>
          </a:xfrm>
          <a:prstGeom prst="rect">
            <a:avLst/>
          </a:prstGeom>
          <a:noFill/>
          <a:ln/>
        </p:spPr>
        <p:txBody>
          <a:bodyPr wrap="square" lIns="0" tIns="0" rIns="0" bIns="0" rtlCol="0" anchor="ctr"/>
          <a:lstStyle/>
          <a:p>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More cores.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np.linalg.eig barely threads — 116.81 ms on 1 core, 110.54 ms on 4. Four times the cores buys 5.7%.
</a:t>
            </a:r>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Faster hardware.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AlgoTune calibrates n so the reference takes ~100 ms on your machine, so a faster LAPACK raises n, not the ceiling.</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913632"/>
          <a:ext cx="5486400" cy="914400"/>
        </p:xfrm>
        <a:graphic>
          <a:graphicData uri="http://schemas.openxmlformats.org/drawingml/2006/table">
            <a:tbl>
              <a:tblPr/>
              <a:tblGrid>
                <a:gridCol w="566928"/>
                <a:gridCol w="1097280"/>
                <a:gridCol w="1042416"/>
                <a:gridCol w="822960"/>
                <a:gridCol w="960120"/>
                <a:gridCol w="996696"/>
              </a:tblGrid>
              <a:tr h="290779">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alone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share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best valid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ceiling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0.200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0.106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1.889x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1.144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0.812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1.354x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1.410x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6.142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5.575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1.069x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1.102x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20.776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18.929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1.057x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1.098x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120.430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109.215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1.053x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1.103x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bl>
          </a:graphicData>
        </a:graphic>
      </p:graphicFrame>
      <p:sp>
        <p:nvSpPr>
          <p:cNvPr id="18" name="Shape 15"/>
          <p:cNvSpPr/>
          <p:nvPr/>
        </p:nvSpPr>
        <p:spPr>
          <a:xfrm>
            <a:off x="6309360" y="3913632"/>
            <a:ext cx="5312664" cy="1737360"/>
          </a:xfrm>
          <a:prstGeom prst="roundRect">
            <a:avLst>
              <a:gd name="adj" fmla="val 3158"/>
            </a:avLst>
          </a:prstGeom>
          <a:solidFill>
            <a:srgbClr val="10161C"/>
          </a:solidFill>
          <a:ln w="12700">
            <a:solidFill>
              <a:srgbClr val="10161C"/>
            </a:solidFill>
            <a:prstDash val="solid"/>
          </a:ln>
        </p:spPr>
      </p:sp>
      <p:sp>
        <p:nvSpPr>
          <p:cNvPr id="19" name="Text 16"/>
          <p:cNvSpPr txBox="1"/>
          <p:nvPr/>
        </p:nvSpPr>
        <p:spPr>
          <a:xfrm>
            <a:off x="6547104" y="4041648"/>
            <a:ext cx="4846320" cy="566928"/>
          </a:xfrm>
          <a:prstGeom prst="rect">
            <a:avLst/>
          </a:prstGeom>
          <a:noFill/>
          <a:ln/>
        </p:spPr>
        <p:txBody>
          <a:bodyPr wrap="square" lIns="0" tIns="0" rIns="0" bIns="0" rtlCol="0" anchor="ctr"/>
          <a:lstStyle/>
          <a:p>
            <a:pPr indent="0" marL="0">
              <a:lnSpc>
                <a:spcPts val="2100"/>
              </a:lnSpc>
              <a:buNone/>
            </a:pPr>
            <a:r>
              <a:rPr lang="en-US" sz="1500" b="1" dirty="0">
                <a:solidFill>
                  <a:srgbClr val="FFFFFF"/>
                </a:solidFill>
                <a:latin typeface="Cambria" pitchFamily="34" charset="0"/>
                <a:ea typeface="Cambria" pitchFamily="34" charset="-122"/>
                <a:cs typeface="Cambria" pitchFamily="34" charset="-120"/>
              </a:rPr>
              <a:t>1.432x, 1.474x and 1.48x all sit in the n ≈ 50 band.</a:t>
            </a:r>
            <a:endParaRPr lang="en-US" sz="1500" dirty="0"/>
          </a:p>
        </p:txBody>
      </p:sp>
      <p:sp>
        <p:nvSpPr>
          <p:cNvPr id="20" name="Text 17"/>
          <p:cNvSpPr txBox="1"/>
          <p:nvPr/>
        </p:nvSpPr>
        <p:spPr>
          <a:xfrm>
            <a:off x="6547104" y="4626864"/>
            <a:ext cx="4846320" cy="914400"/>
          </a:xfrm>
          <a:prstGeom prst="rect">
            <a:avLst/>
          </a:prstGeom>
          <a:noFill/>
          <a:ln/>
        </p:spPr>
        <p:txBody>
          <a:bodyPr wrap="square" lIns="0" tIns="0" rIns="0" bIns="0" rtlCol="0" anchor="ctr"/>
          <a:lstStyle/>
          <a:p>
            <a:pPr indent="0" marL="0">
              <a:lnSpc>
                <a:spcPts val="1600"/>
              </a:lnSpc>
              <a:buNone/>
            </a:pPr>
            <a:r>
              <a:rPr lang="en-US" sz="1150" dirty="0">
                <a:solidFill>
                  <a:srgbClr val="D6E0E4"/>
                </a:solidFill>
                <a:latin typeface="Calibri" pitchFamily="34" charset="0"/>
                <a:ea typeface="Calibri" pitchFamily="34" charset="-122"/>
                <a:cs typeface="Calibri" pitchFamily="34" charset="-120"/>
              </a:rPr>
              <a:t>Not wrong numbers — answers to a different question. Ours answers “how much is there at n = 463”; theirs answers “how much is there when the Python overhead is still a third of the work”. Putting them in one column compares two different tasks.</a:t>
            </a:r>
            <a:endParaRPr lang="en-US" sz="1150" dirty="0"/>
          </a:p>
        </p:txBody>
      </p:sp>
      <p:sp>
        <p:nvSpPr>
          <p:cNvPr id="21" name="Text 18"/>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Measured on the same 4-core box the searches ran on; reference and candidate timed interleaved, min of 6–9 runs.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WHERE WE ACTUALLY STAND</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Against AlgoTune’s own best, task by task</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The right yardstick is not the papers — it is the 14–18 models measured at the same n.</a:t>
            </a:r>
            <a:endParaRPr lang="en-US" sz="1350" dirty="0"/>
          </a:p>
        </p:txBody>
      </p:sp>
      <p:sp>
        <p:nvSpPr>
          <p:cNvPr id="5" name="Shape 3"/>
          <p:cNvSpPr/>
          <p:nvPr/>
        </p:nvSpPr>
        <p:spPr>
          <a:xfrm>
            <a:off x="566928" y="1810512"/>
            <a:ext cx="11055096" cy="457200"/>
          </a:xfrm>
          <a:prstGeom prst="roundRect">
            <a:avLst>
              <a:gd name="adj" fmla="val 10000"/>
            </a:avLst>
          </a:prstGeom>
          <a:solidFill>
            <a:srgbClr val="EEF1F3"/>
          </a:solidFill>
          <a:ln w="7620">
            <a:solidFill>
              <a:srgbClr val="D7DDE2"/>
            </a:solidFill>
            <a:prstDash val="solid"/>
          </a:ln>
        </p:spPr>
      </p:sp>
      <p:sp>
        <p:nvSpPr>
          <p:cNvPr id="6" name="Text 4"/>
          <p:cNvSpPr txBox="1"/>
          <p:nvPr/>
        </p:nvSpPr>
        <p:spPr>
          <a:xfrm>
            <a:off x="786384" y="18288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7" name="Shape 5"/>
          <p:cNvSpPr/>
          <p:nvPr/>
        </p:nvSpPr>
        <p:spPr>
          <a:xfrm>
            <a:off x="3584448" y="1929384"/>
            <a:ext cx="1051560" cy="219456"/>
          </a:xfrm>
          <a:prstGeom prst="roundRect">
            <a:avLst>
              <a:gd name="adj" fmla="val 41667"/>
            </a:avLst>
          </a:prstGeom>
          <a:solidFill>
            <a:srgbClr val="EEF1F3"/>
          </a:solidFill>
          <a:ln w="6350">
            <a:solidFill>
              <a:srgbClr val="D7DDE2"/>
            </a:solidFill>
            <a:prstDash val="solid"/>
          </a:ln>
        </p:spPr>
      </p:sp>
      <p:sp>
        <p:nvSpPr>
          <p:cNvPr id="8" name="Text 6"/>
          <p:cNvSpPr txBox="1"/>
          <p:nvPr/>
        </p:nvSpPr>
        <p:spPr>
          <a:xfrm>
            <a:off x="3584448" y="19293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1104</a:t>
            </a:r>
            <a:endParaRPr lang="en-US" sz="900" dirty="0"/>
          </a:p>
        </p:txBody>
      </p:sp>
      <p:sp>
        <p:nvSpPr>
          <p:cNvPr id="9" name="Text 7"/>
          <p:cNvSpPr txBox="1"/>
          <p:nvPr/>
        </p:nvSpPr>
        <p:spPr>
          <a:xfrm>
            <a:off x="4818888" y="18288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7.000x</a:t>
            </a:r>
            <a:endParaRPr lang="en-US" sz="1150" dirty="0"/>
          </a:p>
        </p:txBody>
      </p:sp>
      <p:sp>
        <p:nvSpPr>
          <p:cNvPr id="10" name="Text 8"/>
          <p:cNvSpPr txBox="1"/>
          <p:nvPr/>
        </p:nvSpPr>
        <p:spPr>
          <a:xfrm>
            <a:off x="6327648" y="18288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35.313x</a:t>
            </a:r>
            <a:endParaRPr lang="en-US" sz="1150" dirty="0"/>
          </a:p>
        </p:txBody>
      </p:sp>
      <p:sp>
        <p:nvSpPr>
          <p:cNvPr id="11" name="Text 9"/>
          <p:cNvSpPr txBox="1"/>
          <p:nvPr/>
        </p:nvSpPr>
        <p:spPr>
          <a:xfrm>
            <a:off x="8750808" y="182880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5.0x of headroom left</a:t>
            </a:r>
            <a:endParaRPr lang="en-US" sz="1150" dirty="0"/>
          </a:p>
        </p:txBody>
      </p:sp>
      <p:sp>
        <p:nvSpPr>
          <p:cNvPr id="12" name="Shape 10"/>
          <p:cNvSpPr/>
          <p:nvPr/>
        </p:nvSpPr>
        <p:spPr>
          <a:xfrm>
            <a:off x="566928" y="2336292"/>
            <a:ext cx="11055096" cy="457200"/>
          </a:xfrm>
          <a:prstGeom prst="roundRect">
            <a:avLst>
              <a:gd name="adj" fmla="val 10000"/>
            </a:avLst>
          </a:prstGeom>
          <a:solidFill>
            <a:srgbClr val="EEF1F3"/>
          </a:solidFill>
          <a:ln w="7620">
            <a:solidFill>
              <a:srgbClr val="D7DDE2"/>
            </a:solidFill>
            <a:prstDash val="solid"/>
          </a:ln>
        </p:spPr>
      </p:sp>
      <p:sp>
        <p:nvSpPr>
          <p:cNvPr id="13" name="Text 11"/>
          <p:cNvSpPr txBox="1"/>
          <p:nvPr/>
        </p:nvSpPr>
        <p:spPr>
          <a:xfrm>
            <a:off x="786384" y="23545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14" name="Shape 12"/>
          <p:cNvSpPr/>
          <p:nvPr/>
        </p:nvSpPr>
        <p:spPr>
          <a:xfrm>
            <a:off x="3584448" y="2455164"/>
            <a:ext cx="1051560" cy="219456"/>
          </a:xfrm>
          <a:prstGeom prst="roundRect">
            <a:avLst>
              <a:gd name="adj" fmla="val 41667"/>
            </a:avLst>
          </a:prstGeom>
          <a:solidFill>
            <a:srgbClr val="EEF1F3"/>
          </a:solidFill>
          <a:ln w="6350">
            <a:solidFill>
              <a:srgbClr val="D7DDE2"/>
            </a:solidFill>
            <a:prstDash val="solid"/>
          </a:ln>
        </p:spPr>
      </p:sp>
      <p:sp>
        <p:nvSpPr>
          <p:cNvPr id="15" name="Text 13"/>
          <p:cNvSpPr txBox="1"/>
          <p:nvPr/>
        </p:nvSpPr>
        <p:spPr>
          <a:xfrm>
            <a:off x="3584448" y="24551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349</a:t>
            </a:r>
            <a:endParaRPr lang="en-US" sz="900" dirty="0"/>
          </a:p>
        </p:txBody>
      </p:sp>
      <p:sp>
        <p:nvSpPr>
          <p:cNvPr id="16" name="Text 14"/>
          <p:cNvSpPr txBox="1"/>
          <p:nvPr/>
        </p:nvSpPr>
        <p:spPr>
          <a:xfrm>
            <a:off x="4818888" y="23545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5.883x</a:t>
            </a:r>
            <a:endParaRPr lang="en-US" sz="1150" dirty="0"/>
          </a:p>
        </p:txBody>
      </p:sp>
      <p:sp>
        <p:nvSpPr>
          <p:cNvPr id="17" name="Text 15"/>
          <p:cNvSpPr txBox="1"/>
          <p:nvPr/>
        </p:nvSpPr>
        <p:spPr>
          <a:xfrm>
            <a:off x="6327648" y="23545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12.023x</a:t>
            </a:r>
            <a:endParaRPr lang="en-US" sz="1150" dirty="0"/>
          </a:p>
        </p:txBody>
      </p:sp>
      <p:sp>
        <p:nvSpPr>
          <p:cNvPr id="18" name="Text 16"/>
          <p:cNvSpPr txBox="1"/>
          <p:nvPr/>
        </p:nvSpPr>
        <p:spPr>
          <a:xfrm>
            <a:off x="8750808" y="235458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2.0x of headroom left</a:t>
            </a:r>
            <a:endParaRPr lang="en-US" sz="1150" dirty="0"/>
          </a:p>
        </p:txBody>
      </p:sp>
      <p:sp>
        <p:nvSpPr>
          <p:cNvPr id="19" name="Shape 17"/>
          <p:cNvSpPr/>
          <p:nvPr/>
        </p:nvSpPr>
        <p:spPr>
          <a:xfrm>
            <a:off x="566928" y="2862072"/>
            <a:ext cx="11055096" cy="457200"/>
          </a:xfrm>
          <a:prstGeom prst="roundRect">
            <a:avLst>
              <a:gd name="adj" fmla="val 10000"/>
            </a:avLst>
          </a:prstGeom>
          <a:solidFill>
            <a:srgbClr val="EEF1F3"/>
          </a:solidFill>
          <a:ln w="7620">
            <a:solidFill>
              <a:srgbClr val="D7DDE2"/>
            </a:solidFill>
            <a:prstDash val="solid"/>
          </a:ln>
        </p:spPr>
      </p:sp>
      <p:sp>
        <p:nvSpPr>
          <p:cNvPr id="20" name="Text 18"/>
          <p:cNvSpPr txBox="1"/>
          <p:nvPr/>
        </p:nvSpPr>
        <p:spPr>
          <a:xfrm>
            <a:off x="786384" y="28803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1" name="Shape 19"/>
          <p:cNvSpPr/>
          <p:nvPr/>
        </p:nvSpPr>
        <p:spPr>
          <a:xfrm>
            <a:off x="3584448" y="2980944"/>
            <a:ext cx="1051560" cy="219456"/>
          </a:xfrm>
          <a:prstGeom prst="roundRect">
            <a:avLst>
              <a:gd name="adj" fmla="val 41667"/>
            </a:avLst>
          </a:prstGeom>
          <a:solidFill>
            <a:srgbClr val="EEF1F3"/>
          </a:solidFill>
          <a:ln w="6350">
            <a:solidFill>
              <a:srgbClr val="D7DDE2"/>
            </a:solidFill>
            <a:prstDash val="solid"/>
          </a:ln>
        </p:spPr>
      </p:sp>
      <p:sp>
        <p:nvSpPr>
          <p:cNvPr id="22" name="Text 20"/>
          <p:cNvSpPr txBox="1"/>
          <p:nvPr/>
        </p:nvSpPr>
        <p:spPr>
          <a:xfrm>
            <a:off x="3584448" y="29809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6</a:t>
            </a:r>
            <a:endParaRPr lang="en-US" sz="900" dirty="0"/>
          </a:p>
        </p:txBody>
      </p:sp>
      <p:sp>
        <p:nvSpPr>
          <p:cNvPr id="23" name="Text 21"/>
          <p:cNvSpPr txBox="1"/>
          <p:nvPr/>
        </p:nvSpPr>
        <p:spPr>
          <a:xfrm>
            <a:off x="4818888" y="28803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115.835x</a:t>
            </a:r>
            <a:endParaRPr lang="en-US" sz="1150" dirty="0"/>
          </a:p>
        </p:txBody>
      </p:sp>
      <p:sp>
        <p:nvSpPr>
          <p:cNvPr id="24" name="Text 22"/>
          <p:cNvSpPr txBox="1"/>
          <p:nvPr/>
        </p:nvSpPr>
        <p:spPr>
          <a:xfrm>
            <a:off x="6327648" y="28803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205.513x</a:t>
            </a:r>
            <a:endParaRPr lang="en-US" sz="1150" dirty="0"/>
          </a:p>
        </p:txBody>
      </p:sp>
      <p:sp>
        <p:nvSpPr>
          <p:cNvPr id="25" name="Text 23"/>
          <p:cNvSpPr txBox="1"/>
          <p:nvPr/>
        </p:nvSpPr>
        <p:spPr>
          <a:xfrm>
            <a:off x="8750808" y="288036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1.8x of headroom left</a:t>
            </a:r>
            <a:endParaRPr lang="en-US" sz="1150" dirty="0"/>
          </a:p>
        </p:txBody>
      </p:sp>
      <p:sp>
        <p:nvSpPr>
          <p:cNvPr id="26" name="Shape 24"/>
          <p:cNvSpPr/>
          <p:nvPr/>
        </p:nvSpPr>
        <p:spPr>
          <a:xfrm>
            <a:off x="566928" y="3387852"/>
            <a:ext cx="11055096" cy="457200"/>
          </a:xfrm>
          <a:prstGeom prst="roundRect">
            <a:avLst>
              <a:gd name="adj" fmla="val 10000"/>
            </a:avLst>
          </a:prstGeom>
          <a:solidFill>
            <a:srgbClr val="E6F2EF"/>
          </a:solidFill>
          <a:ln w="7620">
            <a:solidFill>
              <a:srgbClr val="D7DDE2"/>
            </a:solidFill>
            <a:prstDash val="solid"/>
          </a:ln>
        </p:spPr>
      </p:sp>
      <p:sp>
        <p:nvSpPr>
          <p:cNvPr id="27" name="Text 25"/>
          <p:cNvSpPr txBox="1"/>
          <p:nvPr/>
        </p:nvSpPr>
        <p:spPr>
          <a:xfrm>
            <a:off x="786384" y="340614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28" name="Shape 26"/>
          <p:cNvSpPr/>
          <p:nvPr/>
        </p:nvSpPr>
        <p:spPr>
          <a:xfrm>
            <a:off x="3584448" y="3506724"/>
            <a:ext cx="1051560" cy="219456"/>
          </a:xfrm>
          <a:prstGeom prst="roundRect">
            <a:avLst>
              <a:gd name="adj" fmla="val 41667"/>
            </a:avLst>
          </a:prstGeom>
          <a:solidFill>
            <a:srgbClr val="EEF1F3"/>
          </a:solidFill>
          <a:ln w="6350">
            <a:solidFill>
              <a:srgbClr val="D7DDE2"/>
            </a:solidFill>
            <a:prstDash val="solid"/>
          </a:ln>
        </p:spPr>
      </p:sp>
      <p:sp>
        <p:nvSpPr>
          <p:cNvPr id="29" name="Text 27"/>
          <p:cNvSpPr txBox="1"/>
          <p:nvPr/>
        </p:nvSpPr>
        <p:spPr>
          <a:xfrm>
            <a:off x="3584448" y="350672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1123</a:t>
            </a:r>
            <a:endParaRPr lang="en-US" sz="900" dirty="0"/>
          </a:p>
        </p:txBody>
      </p:sp>
      <p:sp>
        <p:nvSpPr>
          <p:cNvPr id="30" name="Text 28"/>
          <p:cNvSpPr txBox="1"/>
          <p:nvPr/>
        </p:nvSpPr>
        <p:spPr>
          <a:xfrm>
            <a:off x="4818888" y="340614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0.992x</a:t>
            </a:r>
            <a:endParaRPr lang="en-US" sz="1150" dirty="0"/>
          </a:p>
        </p:txBody>
      </p:sp>
      <p:sp>
        <p:nvSpPr>
          <p:cNvPr id="31" name="Text 29"/>
          <p:cNvSpPr txBox="1"/>
          <p:nvPr/>
        </p:nvSpPr>
        <p:spPr>
          <a:xfrm>
            <a:off x="6327648" y="340614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1.015x</a:t>
            </a:r>
            <a:endParaRPr lang="en-US" sz="1150" dirty="0"/>
          </a:p>
        </p:txBody>
      </p:sp>
      <p:sp>
        <p:nvSpPr>
          <p:cNvPr id="32" name="Text 30"/>
          <p:cNvSpPr txBox="1"/>
          <p:nvPr/>
        </p:nvSpPr>
        <p:spPr>
          <a:xfrm>
            <a:off x="8750808" y="340614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33" name="Shape 31"/>
          <p:cNvSpPr/>
          <p:nvPr/>
        </p:nvSpPr>
        <p:spPr>
          <a:xfrm>
            <a:off x="566928" y="3913632"/>
            <a:ext cx="11055096" cy="457200"/>
          </a:xfrm>
          <a:prstGeom prst="roundRect">
            <a:avLst>
              <a:gd name="adj" fmla="val 10000"/>
            </a:avLst>
          </a:prstGeom>
          <a:solidFill>
            <a:srgbClr val="E6F2EF"/>
          </a:solidFill>
          <a:ln w="7620">
            <a:solidFill>
              <a:srgbClr val="D7DDE2"/>
            </a:solidFill>
            <a:prstDash val="solid"/>
          </a:ln>
        </p:spPr>
      </p:sp>
      <p:sp>
        <p:nvSpPr>
          <p:cNvPr id="34" name="Text 32"/>
          <p:cNvSpPr txBox="1"/>
          <p:nvPr/>
        </p:nvSpPr>
        <p:spPr>
          <a:xfrm>
            <a:off x="786384" y="393192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35" name="Shape 33"/>
          <p:cNvSpPr/>
          <p:nvPr/>
        </p:nvSpPr>
        <p:spPr>
          <a:xfrm>
            <a:off x="3584448" y="4032504"/>
            <a:ext cx="1051560" cy="219456"/>
          </a:xfrm>
          <a:prstGeom prst="roundRect">
            <a:avLst>
              <a:gd name="adj" fmla="val 41667"/>
            </a:avLst>
          </a:prstGeom>
          <a:solidFill>
            <a:srgbClr val="EEF1F3"/>
          </a:solidFill>
          <a:ln w="6350">
            <a:solidFill>
              <a:srgbClr val="D7DDE2"/>
            </a:solidFill>
            <a:prstDash val="solid"/>
          </a:ln>
        </p:spPr>
      </p:sp>
      <p:sp>
        <p:nvSpPr>
          <p:cNvPr id="36" name="Text 34"/>
          <p:cNvSpPr txBox="1"/>
          <p:nvPr/>
        </p:nvSpPr>
        <p:spPr>
          <a:xfrm>
            <a:off x="3584448" y="403250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542069</a:t>
            </a:r>
            <a:endParaRPr lang="en-US" sz="900" dirty="0"/>
          </a:p>
        </p:txBody>
      </p:sp>
      <p:sp>
        <p:nvSpPr>
          <p:cNvPr id="37" name="Text 35"/>
          <p:cNvSpPr txBox="1"/>
          <p:nvPr/>
        </p:nvSpPr>
        <p:spPr>
          <a:xfrm>
            <a:off x="4818888" y="393192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1.003x</a:t>
            </a:r>
            <a:endParaRPr lang="en-US" sz="1150" dirty="0"/>
          </a:p>
        </p:txBody>
      </p:sp>
      <p:sp>
        <p:nvSpPr>
          <p:cNvPr id="38" name="Text 36"/>
          <p:cNvSpPr txBox="1"/>
          <p:nvPr/>
        </p:nvSpPr>
        <p:spPr>
          <a:xfrm>
            <a:off x="6327648" y="393192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1.021x</a:t>
            </a:r>
            <a:endParaRPr lang="en-US" sz="1150" dirty="0"/>
          </a:p>
        </p:txBody>
      </p:sp>
      <p:sp>
        <p:nvSpPr>
          <p:cNvPr id="39" name="Text 37"/>
          <p:cNvSpPr txBox="1"/>
          <p:nvPr/>
        </p:nvSpPr>
        <p:spPr>
          <a:xfrm>
            <a:off x="8750808" y="393192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0" name="Shape 38"/>
          <p:cNvSpPr/>
          <p:nvPr/>
        </p:nvSpPr>
        <p:spPr>
          <a:xfrm>
            <a:off x="566928" y="4439412"/>
            <a:ext cx="11055096" cy="457200"/>
          </a:xfrm>
          <a:prstGeom prst="roundRect">
            <a:avLst>
              <a:gd name="adj" fmla="val 10000"/>
            </a:avLst>
          </a:prstGeom>
          <a:solidFill>
            <a:srgbClr val="E6F2EF"/>
          </a:solidFill>
          <a:ln w="7620">
            <a:solidFill>
              <a:srgbClr val="D7DDE2"/>
            </a:solidFill>
            <a:prstDash val="solid"/>
          </a:ln>
        </p:spPr>
      </p:sp>
      <p:sp>
        <p:nvSpPr>
          <p:cNvPr id="41" name="Text 39"/>
          <p:cNvSpPr txBox="1"/>
          <p:nvPr/>
        </p:nvSpPr>
        <p:spPr>
          <a:xfrm>
            <a:off x="786384" y="44577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42" name="Shape 40"/>
          <p:cNvSpPr/>
          <p:nvPr/>
        </p:nvSpPr>
        <p:spPr>
          <a:xfrm>
            <a:off x="3584448" y="4558284"/>
            <a:ext cx="1051560" cy="219456"/>
          </a:xfrm>
          <a:prstGeom prst="roundRect">
            <a:avLst>
              <a:gd name="adj" fmla="val 41667"/>
            </a:avLst>
          </a:prstGeom>
          <a:solidFill>
            <a:srgbClr val="EEF1F3"/>
          </a:solidFill>
          <a:ln w="6350">
            <a:solidFill>
              <a:srgbClr val="D7DDE2"/>
            </a:solidFill>
            <a:prstDash val="solid"/>
          </a:ln>
        </p:spPr>
      </p:sp>
      <p:sp>
        <p:nvSpPr>
          <p:cNvPr id="43" name="Text 41"/>
          <p:cNvSpPr txBox="1"/>
          <p:nvPr/>
        </p:nvSpPr>
        <p:spPr>
          <a:xfrm>
            <a:off x="3584448" y="45582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463</a:t>
            </a:r>
            <a:endParaRPr lang="en-US" sz="900" dirty="0"/>
          </a:p>
        </p:txBody>
      </p:sp>
      <p:sp>
        <p:nvSpPr>
          <p:cNvPr id="44" name="Text 42"/>
          <p:cNvSpPr txBox="1"/>
          <p:nvPr/>
        </p:nvSpPr>
        <p:spPr>
          <a:xfrm>
            <a:off x="4818888" y="44577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1.039x</a:t>
            </a:r>
            <a:endParaRPr lang="en-US" sz="1150" dirty="0"/>
          </a:p>
        </p:txBody>
      </p:sp>
      <p:sp>
        <p:nvSpPr>
          <p:cNvPr id="45" name="Text 43"/>
          <p:cNvSpPr txBox="1"/>
          <p:nvPr/>
        </p:nvSpPr>
        <p:spPr>
          <a:xfrm>
            <a:off x="6327648" y="44577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1.039x</a:t>
            </a:r>
            <a:endParaRPr lang="en-US" sz="1150" dirty="0"/>
          </a:p>
        </p:txBody>
      </p:sp>
      <p:sp>
        <p:nvSpPr>
          <p:cNvPr id="46" name="Text 44"/>
          <p:cNvSpPr txBox="1"/>
          <p:nvPr/>
        </p:nvSpPr>
        <p:spPr>
          <a:xfrm>
            <a:off x="8750808" y="445770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7" name="Shape 45"/>
          <p:cNvSpPr/>
          <p:nvPr/>
        </p:nvSpPr>
        <p:spPr>
          <a:xfrm>
            <a:off x="566928" y="4965192"/>
            <a:ext cx="11055096" cy="457200"/>
          </a:xfrm>
          <a:prstGeom prst="roundRect">
            <a:avLst>
              <a:gd name="adj" fmla="val 10000"/>
            </a:avLst>
          </a:prstGeom>
          <a:solidFill>
            <a:srgbClr val="E6F2EF"/>
          </a:solidFill>
          <a:ln w="7620">
            <a:solidFill>
              <a:srgbClr val="D7DDE2"/>
            </a:solidFill>
            <a:prstDash val="solid"/>
          </a:ln>
        </p:spPr>
      </p:sp>
      <p:sp>
        <p:nvSpPr>
          <p:cNvPr id="48" name="Text 46"/>
          <p:cNvSpPr txBox="1"/>
          <p:nvPr/>
        </p:nvSpPr>
        <p:spPr>
          <a:xfrm>
            <a:off x="786384" y="49834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fft_cmplx_scipy_fftpack</a:t>
            </a:r>
            <a:endParaRPr lang="en-US" sz="1150" dirty="0"/>
          </a:p>
        </p:txBody>
      </p:sp>
      <p:sp>
        <p:nvSpPr>
          <p:cNvPr id="49" name="Shape 47"/>
          <p:cNvSpPr/>
          <p:nvPr/>
        </p:nvSpPr>
        <p:spPr>
          <a:xfrm>
            <a:off x="3584448" y="5084064"/>
            <a:ext cx="1051560" cy="219456"/>
          </a:xfrm>
          <a:prstGeom prst="roundRect">
            <a:avLst>
              <a:gd name="adj" fmla="val 41667"/>
            </a:avLst>
          </a:prstGeom>
          <a:solidFill>
            <a:srgbClr val="EEF1F3"/>
          </a:solidFill>
          <a:ln w="6350">
            <a:solidFill>
              <a:srgbClr val="D7DDE2"/>
            </a:solidFill>
            <a:prstDash val="solid"/>
          </a:ln>
        </p:spPr>
      </p:sp>
      <p:sp>
        <p:nvSpPr>
          <p:cNvPr id="50" name="Text 48"/>
          <p:cNvSpPr txBox="1"/>
          <p:nvPr/>
        </p:nvSpPr>
        <p:spPr>
          <a:xfrm>
            <a:off x="3584448" y="50840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1860</a:t>
            </a:r>
            <a:endParaRPr lang="en-US" sz="900" dirty="0"/>
          </a:p>
        </p:txBody>
      </p:sp>
      <p:sp>
        <p:nvSpPr>
          <p:cNvPr id="51" name="Text 49"/>
          <p:cNvSpPr txBox="1"/>
          <p:nvPr/>
        </p:nvSpPr>
        <p:spPr>
          <a:xfrm>
            <a:off x="4818888" y="49834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4.759x</a:t>
            </a:r>
            <a:endParaRPr lang="en-US" sz="1150" dirty="0"/>
          </a:p>
        </p:txBody>
      </p:sp>
      <p:sp>
        <p:nvSpPr>
          <p:cNvPr id="52" name="Text 50"/>
          <p:cNvSpPr txBox="1"/>
          <p:nvPr/>
        </p:nvSpPr>
        <p:spPr>
          <a:xfrm>
            <a:off x="6327648" y="49834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4.464x</a:t>
            </a:r>
            <a:endParaRPr lang="en-US" sz="1150" dirty="0"/>
          </a:p>
        </p:txBody>
      </p:sp>
      <p:sp>
        <p:nvSpPr>
          <p:cNvPr id="53" name="Text 51"/>
          <p:cNvSpPr txBox="1"/>
          <p:nvPr/>
        </p:nvSpPr>
        <p:spPr>
          <a:xfrm>
            <a:off x="8750808" y="498348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54" name="Shape 52"/>
          <p:cNvSpPr/>
          <p:nvPr/>
        </p:nvSpPr>
        <p:spPr>
          <a:xfrm>
            <a:off x="566928" y="5490972"/>
            <a:ext cx="11055096" cy="457200"/>
          </a:xfrm>
          <a:prstGeom prst="roundRect">
            <a:avLst>
              <a:gd name="adj" fmla="val 10000"/>
            </a:avLst>
          </a:prstGeom>
          <a:solidFill>
            <a:srgbClr val="E6F2EF"/>
          </a:solidFill>
          <a:ln w="7620">
            <a:solidFill>
              <a:srgbClr val="D7DDE2"/>
            </a:solidFill>
            <a:prstDash val="solid"/>
          </a:ln>
        </p:spPr>
      </p:sp>
      <p:sp>
        <p:nvSpPr>
          <p:cNvPr id="55" name="Text 53"/>
          <p:cNvSpPr txBox="1"/>
          <p:nvPr/>
        </p:nvSpPr>
        <p:spPr>
          <a:xfrm>
            <a:off x="786384" y="55092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56" name="Shape 54"/>
          <p:cNvSpPr/>
          <p:nvPr/>
        </p:nvSpPr>
        <p:spPr>
          <a:xfrm>
            <a:off x="3584448" y="5609844"/>
            <a:ext cx="1051560" cy="219456"/>
          </a:xfrm>
          <a:prstGeom prst="roundRect">
            <a:avLst>
              <a:gd name="adj" fmla="val 41667"/>
            </a:avLst>
          </a:prstGeom>
          <a:solidFill>
            <a:srgbClr val="EEF1F3"/>
          </a:solidFill>
          <a:ln w="6350">
            <a:solidFill>
              <a:srgbClr val="D7DDE2"/>
            </a:solidFill>
            <a:prstDash val="solid"/>
          </a:ln>
        </p:spPr>
      </p:sp>
      <p:sp>
        <p:nvSpPr>
          <p:cNvPr id="57" name="Text 55"/>
          <p:cNvSpPr txBox="1"/>
          <p:nvPr/>
        </p:nvSpPr>
        <p:spPr>
          <a:xfrm>
            <a:off x="3584448" y="56098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396</a:t>
            </a:r>
            <a:endParaRPr lang="en-US" sz="900" dirty="0"/>
          </a:p>
        </p:txBody>
      </p:sp>
      <p:sp>
        <p:nvSpPr>
          <p:cNvPr id="58" name="Text 56"/>
          <p:cNvSpPr txBox="1"/>
          <p:nvPr/>
        </p:nvSpPr>
        <p:spPr>
          <a:xfrm>
            <a:off x="4818888" y="55092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544.454x</a:t>
            </a:r>
            <a:endParaRPr lang="en-US" sz="1150" dirty="0"/>
          </a:p>
        </p:txBody>
      </p:sp>
      <p:sp>
        <p:nvSpPr>
          <p:cNvPr id="59" name="Text 57"/>
          <p:cNvSpPr txBox="1"/>
          <p:nvPr/>
        </p:nvSpPr>
        <p:spPr>
          <a:xfrm>
            <a:off x="6327648" y="55092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138.469x</a:t>
            </a:r>
            <a:endParaRPr lang="en-US" sz="1150" dirty="0"/>
          </a:p>
        </p:txBody>
      </p:sp>
      <p:sp>
        <p:nvSpPr>
          <p:cNvPr id="60" name="Text 58"/>
          <p:cNvSpPr txBox="1"/>
          <p:nvPr/>
        </p:nvSpPr>
        <p:spPr>
          <a:xfrm>
            <a:off x="8750808" y="550926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61" name="Text 59"/>
          <p:cNvSpPr txBox="1"/>
          <p:nvPr/>
        </p:nvSpPr>
        <p:spPr>
          <a:xfrm>
            <a:off x="566928" y="6035040"/>
            <a:ext cx="11055096" cy="566928"/>
          </a:xfrm>
          <a:prstGeom prst="rect">
            <a:avLst/>
          </a:prstGeom>
          <a:noFill/>
          <a:ln/>
        </p:spPr>
        <p:txBody>
          <a:bodyPr wrap="square" lIns="0" tIns="0" rIns="0" bIns="0" rtlCol="0" anchor="ctr"/>
          <a:lstStyle/>
          <a:p>
            <a:pPr indent="0" marL="0">
              <a:lnSpc>
                <a:spcPts val="1400"/>
              </a:lnSpc>
              <a:buNone/>
            </a:pPr>
            <a:r>
              <a:rPr lang="en-US" sz="1050" dirty="0">
                <a:solidFill>
                  <a:srgbClr val="C2872B"/>
                </a:solidFill>
                <a:latin typeface="Calibri" pitchFamily="34" charset="0"/>
                <a:ea typeface="Calibri" pitchFamily="34" charset="-122"/>
                <a:cs typeface="Calibri" pitchFamily="34" charset="-120"/>
              </a:rPr>
              <a:t>Our own outlier, stated: polynomial_real at 544x is 3.9x above the best of 14 published models, and fft_cmplx_scipy_fftpack at 4.759x is above the best of 18. Both were re-verified against upstream’s own is_solution, but “far above every published result” is a claim that deserves its own scrutiny, not a victory lap.</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BEYOND THE EIGHT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other tasks run with the model prior</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Ten tasks have a prior-arm run. The two outside the comparison set have no MetaEvolve number, so AlgoTune is the only yardstick.</a:t>
            </a:r>
            <a:endParaRPr lang="en-US" sz="1350" dirty="0"/>
          </a:p>
        </p:txBody>
      </p:sp>
      <p:sp>
        <p:nvSpPr>
          <p:cNvPr id="5" name="Shape 3"/>
          <p:cNvSpPr/>
          <p:nvPr/>
        </p:nvSpPr>
        <p:spPr>
          <a:xfrm>
            <a:off x="566928" y="192024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41248" y="206654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lp_centering</a:t>
            </a:r>
            <a:endParaRPr lang="en-US" sz="1400" dirty="0"/>
          </a:p>
        </p:txBody>
      </p:sp>
      <p:sp>
        <p:nvSpPr>
          <p:cNvPr id="7" name="Text 5"/>
          <p:cNvSpPr txBox="1"/>
          <p:nvPr/>
        </p:nvSpPr>
        <p:spPr>
          <a:xfrm>
            <a:off x="841248" y="2432304"/>
            <a:ext cx="2834640" cy="621792"/>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1.001x</a:t>
            </a:r>
            <a:endParaRPr lang="en-US" sz="2600" dirty="0"/>
          </a:p>
        </p:txBody>
      </p:sp>
      <p:sp>
        <p:nvSpPr>
          <p:cNvPr id="8" name="Text 6"/>
          <p:cNvSpPr txBox="1"/>
          <p:nvPr/>
        </p:nvSpPr>
        <p:spPr>
          <a:xfrm>
            <a:off x="3950208" y="213969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1.039x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1.000x</a:t>
            </a:r>
            <a:pPr indent="0" marL="0">
              <a:buNone/>
            </a:pPr>
            <a:r>
              <a:rPr lang="en-US" sz="1150" dirty="0">
                <a:solidFill>
                  <a:srgbClr val="93A1AA"/>
                </a:solidFill>
                <a:latin typeface="Calibri" pitchFamily="34" charset="0"/>
                <a:ea typeface="Calibri" pitchFamily="34" charset="-122"/>
                <a:cs typeface="Calibri" pitchFamily="34" charset="-120"/>
              </a:rPr>
              <a:t>      over 12 models</a:t>
            </a:r>
            <a:endParaRPr lang="en-US" sz="1150" dirty="0"/>
          </a:p>
        </p:txBody>
      </p:sp>
      <p:sp>
        <p:nvSpPr>
          <p:cNvPr id="9" name="Text 7"/>
          <p:cNvSpPr txBox="1"/>
          <p:nvPr/>
        </p:nvSpPr>
        <p:spPr>
          <a:xfrm>
            <a:off x="3950208" y="252374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At the field’s median and within 4% of its best. Nothing here for anyone.</a:t>
            </a:r>
            <a:endParaRPr lang="en-US" sz="1250" dirty="0"/>
          </a:p>
        </p:txBody>
      </p:sp>
      <p:sp>
        <p:nvSpPr>
          <p:cNvPr id="10" name="Shape 8"/>
          <p:cNvSpPr/>
          <p:nvPr/>
        </p:nvSpPr>
        <p:spPr>
          <a:xfrm>
            <a:off x="566928" y="338328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9"/>
          <p:cNvSpPr txBox="1"/>
          <p:nvPr/>
        </p:nvSpPr>
        <p:spPr>
          <a:xfrm>
            <a:off x="841248" y="352958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least_squares</a:t>
            </a:r>
            <a:endParaRPr lang="en-US" sz="1400" dirty="0"/>
          </a:p>
        </p:txBody>
      </p:sp>
      <p:sp>
        <p:nvSpPr>
          <p:cNvPr id="12" name="Text 10"/>
          <p:cNvSpPr txBox="1"/>
          <p:nvPr/>
        </p:nvSpPr>
        <p:spPr>
          <a:xfrm>
            <a:off x="841248" y="3895344"/>
            <a:ext cx="2834640" cy="621792"/>
          </a:xfrm>
          <a:prstGeom prst="rect">
            <a:avLst/>
          </a:prstGeom>
          <a:noFill/>
          <a:ln/>
        </p:spPr>
        <p:txBody>
          <a:bodyPr wrap="square" lIns="0" tIns="0" rIns="0" bIns="0" rtlCol="0" anchor="ctr"/>
          <a:lstStyle/>
          <a:p>
            <a:pPr indent="0" marL="0">
              <a:buNone/>
            </a:pPr>
            <a:r>
              <a:rPr lang="en-US" sz="1500" b="1" dirty="0">
                <a:solidFill>
                  <a:srgbClr val="C2872B"/>
                </a:solidFill>
                <a:latin typeface="Cambria" pitchFamily="34" charset="0"/>
                <a:ea typeface="Cambria" pitchFamily="34" charset="-122"/>
                <a:cs typeface="Cambria" pitchFamily="34" charset="-120"/>
              </a:rPr>
              <a:t>no valid</a:t>
            </a:r>
            <a:endParaRPr lang="en-US" sz="1500" dirty="0"/>
          </a:p>
          <a:p>
            <a:pPr indent="0" marL="0">
              <a:buNone/>
            </a:pPr>
            <a:r>
              <a:rPr lang="en-US" sz="1500" b="1" dirty="0">
                <a:solidFill>
                  <a:srgbClr val="C2872B"/>
                </a:solidFill>
                <a:latin typeface="Cambria" pitchFamily="34" charset="0"/>
                <a:ea typeface="Cambria" pitchFamily="34" charset="-122"/>
                <a:cs typeface="Cambria" pitchFamily="34" charset="-120"/>
              </a:rPr>
              <a:t>improvement</a:t>
            </a:r>
            <a:endParaRPr lang="en-US" sz="1500" dirty="0"/>
          </a:p>
        </p:txBody>
      </p:sp>
      <p:sp>
        <p:nvSpPr>
          <p:cNvPr id="13" name="Text 11"/>
          <p:cNvSpPr txBox="1"/>
          <p:nvPr/>
        </p:nvSpPr>
        <p:spPr>
          <a:xfrm>
            <a:off x="3950208" y="360273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3.810x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1.910x</a:t>
            </a:r>
            <a:pPr indent="0" marL="0">
              <a:buNone/>
            </a:pPr>
            <a:r>
              <a:rPr lang="en-US" sz="1150" dirty="0">
                <a:solidFill>
                  <a:srgbClr val="93A1AA"/>
                </a:solidFill>
                <a:latin typeface="Calibri" pitchFamily="34" charset="0"/>
                <a:ea typeface="Calibri" pitchFamily="34" charset="-122"/>
                <a:cs typeface="Calibri" pitchFamily="34" charset="-120"/>
              </a:rPr>
              <a:t>      over 13 models</a:t>
            </a:r>
            <a:endParaRPr lang="en-US" sz="1150" dirty="0"/>
          </a:p>
        </p:txBody>
      </p:sp>
      <p:sp>
        <p:nvSpPr>
          <p:cNvPr id="14" name="Text 12"/>
          <p:cNvSpPr txBox="1"/>
          <p:nvPr/>
        </p:nvSpPr>
        <p:spPr>
          <a:xfrm>
            <a:off x="3950208" y="398678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 genuine miss: the search never found a valid improvement, while half the field is above 1.9x.</a:t>
            </a:r>
            <a:endParaRPr lang="en-US" sz="1250" dirty="0"/>
          </a:p>
        </p:txBody>
      </p:sp>
      <p:sp>
        <p:nvSpPr>
          <p:cNvPr id="15" name="Shape 13"/>
          <p:cNvSpPr/>
          <p:nvPr/>
        </p:nvSpPr>
        <p:spPr>
          <a:xfrm>
            <a:off x="566928" y="4956048"/>
            <a:ext cx="11055096" cy="1170432"/>
          </a:xfrm>
          <a:prstGeom prst="roundRect">
            <a:avLst>
              <a:gd name="adj" fmla="val 4688"/>
            </a:avLst>
          </a:prstGeom>
          <a:solidFill>
            <a:srgbClr val="10161C"/>
          </a:solidFill>
          <a:ln w="12700">
            <a:solidFill>
              <a:srgbClr val="10161C"/>
            </a:solidFill>
            <a:prstDash val="solid"/>
          </a:ln>
        </p:spPr>
      </p:sp>
      <p:sp>
        <p:nvSpPr>
          <p:cNvPr id="16" name="Text 14"/>
          <p:cNvSpPr txBox="1"/>
          <p:nvPr/>
        </p:nvSpPr>
        <p:spPr>
          <a:xfrm>
            <a:off x="822960" y="5120640"/>
            <a:ext cx="10543032" cy="859536"/>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The port has results on 29 AlgoTune tasks in all, but 19 of them predate the model prior and are a different configuration. Only these ten were run with it, so only these ten are shown — mixing arms is exactly the best-of column this deck replaced.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548640"/>
            <a:ext cx="11055096" cy="274320"/>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THIS DECK CLAIMS</a:t>
            </a:r>
            <a:endParaRPr lang="en-US" sz="1100" dirty="0"/>
          </a:p>
        </p:txBody>
      </p:sp>
      <p:sp>
        <p:nvSpPr>
          <p:cNvPr id="4" name="Text 2"/>
          <p:cNvSpPr txBox="1"/>
          <p:nvPr/>
        </p:nvSpPr>
        <p:spPr>
          <a:xfrm>
            <a:off x="566928" y="859536"/>
            <a:ext cx="11055096"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Three things, and one it does not</a:t>
            </a:r>
            <a:endParaRPr lang="en-US" sz="3300" dirty="0"/>
          </a:p>
        </p:txBody>
      </p:sp>
      <p:sp>
        <p:nvSpPr>
          <p:cNvPr id="5" name="Text 3"/>
          <p:cNvSpPr txBox="1"/>
          <p:nvPr/>
        </p:nvSpPr>
        <p:spPr>
          <a:xfrm>
            <a:off x="566928" y="1700784"/>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1435608" y="1737360"/>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number is reproducible.</a:t>
            </a:r>
            <a:endParaRPr lang="en-US" sz="1450" dirty="0"/>
          </a:p>
        </p:txBody>
      </p:sp>
      <p:sp>
        <p:nvSpPr>
          <p:cNvPr id="7" name="Text 5"/>
          <p:cNvSpPr txBox="1"/>
          <p:nvPr/>
        </p:nvSpPr>
        <p:spPr>
          <a:xfrm>
            <a:off x="1435608" y="2084832"/>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2.285x and 2.254x on two seeds of one configuration, 1.4% apart, with identical win counts against both papers. At 45 rollouts the same configuration swung 65% between seeds. That is what the extra budget bought — not a better score, a repeatable one.</a:t>
            </a:r>
            <a:endParaRPr lang="en-US" sz="1200" dirty="0"/>
          </a:p>
        </p:txBody>
      </p:sp>
      <p:sp>
        <p:nvSpPr>
          <p:cNvPr id="8" name="Text 6"/>
          <p:cNvSpPr txBox="1"/>
          <p:nvPr/>
        </p:nvSpPr>
        <p:spPr>
          <a:xfrm>
            <a:off x="566928" y="3017520"/>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02</a:t>
            </a:r>
            <a:endParaRPr lang="en-US" sz="2600" dirty="0"/>
          </a:p>
        </p:txBody>
      </p:sp>
      <p:sp>
        <p:nvSpPr>
          <p:cNvPr id="9" name="Text 7"/>
          <p:cNvSpPr txBox="1"/>
          <p:nvPr/>
        </p:nvSpPr>
        <p:spPr>
          <a:xfrm>
            <a:off x="1435608" y="3054096"/>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Half the published comparison is not the same problem.</a:t>
            </a:r>
            <a:endParaRPr lang="en-US" sz="1450" dirty="0"/>
          </a:p>
        </p:txBody>
      </p:sp>
      <p:sp>
        <p:nvSpPr>
          <p:cNvPr id="10" name="Text 8"/>
          <p:cNvSpPr txBox="1"/>
          <p:nvPr/>
        </p:nvSpPr>
        <p:spPr>
          <a:xfrm>
            <a:off x="1435608" y="3401568"/>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On three tasks all three systems report above the best of every AlgoTune model at the calibrated n; on two others they fall below AlgoTune’s median. For eigenvectors_complex the ceiling at n = 463 is 1.103x and cannot be raised by cores or hardware. Their numbers sit in the n ≈ 50 band.</a:t>
            </a:r>
            <a:endParaRPr lang="en-US" sz="1200" dirty="0"/>
          </a:p>
        </p:txBody>
      </p:sp>
      <p:sp>
        <p:nvSpPr>
          <p:cNvPr id="11" name="Text 9"/>
          <p:cNvSpPr txBox="1"/>
          <p:nvPr/>
        </p:nvSpPr>
        <p:spPr>
          <a:xfrm>
            <a:off x="566928" y="4334256"/>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03</a:t>
            </a:r>
            <a:endParaRPr lang="en-US" sz="2600" dirty="0"/>
          </a:p>
        </p:txBody>
      </p:sp>
      <p:sp>
        <p:nvSpPr>
          <p:cNvPr id="12" name="Text 10"/>
          <p:cNvSpPr txBox="1"/>
          <p:nvPr/>
        </p:nvSpPr>
        <p:spPr>
          <a:xfrm>
            <a:off x="1435608" y="4370832"/>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Measured against the right yardstick, the room is elsewhere.</a:t>
            </a:r>
            <a:endParaRPr lang="en-US" sz="1450" dirty="0"/>
          </a:p>
        </p:txBody>
      </p:sp>
      <p:sp>
        <p:nvSpPr>
          <p:cNvPr id="13" name="Text 11"/>
          <p:cNvSpPr txBox="1"/>
          <p:nvPr/>
        </p:nvSpPr>
        <p:spPr>
          <a:xfrm>
            <a:off x="1435608" y="4718304"/>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AlgoTune’s own models at the same n put the headroom in lu_factorization (5.0x) and psd_cone_projection (2.0x) — not in the three tasks that look like failures. eigenvectors_complex is at 99% of its physical ceiling.</a:t>
            </a:r>
            <a:endParaRPr lang="en-US" sz="1200" dirty="0"/>
          </a:p>
        </p:txBody>
      </p:sp>
      <p:sp>
        <p:nvSpPr>
          <p:cNvPr id="14" name="Text 12"/>
          <p:cNvSpPr txBox="1"/>
          <p:nvPr/>
        </p:nvSpPr>
        <p:spPr>
          <a:xfrm>
            <a:off x="566928" y="5669280"/>
            <a:ext cx="11055096" cy="786384"/>
          </a:xfrm>
          <a:prstGeom prst="rect">
            <a:avLst/>
          </a:prstGeom>
          <a:noFill/>
          <a:ln/>
        </p:spPr>
        <p:txBody>
          <a:bodyPr wrap="square" lIns="0" tIns="0" rIns="0" bIns="0" rtlCol="0" anchor="ctr"/>
          <a:lstStyle/>
          <a:p>
            <a:pPr indent="0" marL="0">
              <a:lnSpc>
                <a:spcPts val="1700"/>
              </a:lnSpc>
              <a:buNone/>
            </a:pPr>
            <a:r>
              <a:rPr lang="en-US" sz="1200" dirty="0">
                <a:solidFill>
                  <a:srgbClr val="C2872B"/>
                </a:solidFill>
                <a:latin typeface="Calibri" pitchFamily="34" charset="0"/>
                <a:ea typeface="Calibri" pitchFamily="34" charset="-122"/>
                <a:cs typeface="Calibri" pitchFamily="34" charset="-120"/>
              </a:rPr>
              <a:t>And one it does not: that this port leads the field. Under AlgoTune’s own scoring it is 1st and 2nd of 23 on these eight tasks, but the three rows above the AlgoTuner field all run OpenEvolve’s search at sizes none of them states. lu_factorization at 7.0x is the reference’s .tolist() serialisation, not a faster factorisation; discount it to 1.19x and the eight-task aggregate is 1.905x. Three tasks were run at sizes we can only infer, and one seed each is still one seed.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AlgoTune: Eight Tasks, Measured Twice</dc:title>
  <dc:subject>PptxGenJS Presentation</dc:subject>
  <dc:creator>AgentDescent</dc:creator>
  <cp:lastModifiedBy>AgentDescent</cp:lastModifiedBy>
  <cp:revision>1</cp:revision>
  <dcterms:created xsi:type="dcterms:W3CDTF">2026-08-31T05:22:52Z</dcterms:created>
  <dcterms:modified xsi:type="dcterms:W3CDTF">2026-08-31T05:22:52Z</dcterms:modified>
</cp:coreProperties>
</file>